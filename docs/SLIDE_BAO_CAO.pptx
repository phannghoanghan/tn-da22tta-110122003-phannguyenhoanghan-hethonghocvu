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Be Vietnam Ultra-Bold" charset="1" panose="00000900000000000000"/>
      <p:regular r:id="rId24"/>
    </p:embeddedFont>
    <p:embeddedFont>
      <p:font typeface="Be Vietnam" charset="1" panose="00000500000000000000"/>
      <p:regular r:id="rId25"/>
    </p:embeddedFont>
    <p:embeddedFont>
      <p:font typeface="Noto Sans" charset="1" panose="020B0502040504020204"/>
      <p:regular r:id="rId26"/>
    </p:embeddedFont>
    <p:embeddedFont>
      <p:font typeface="Be Vietnam Italics" charset="1" panose="000005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5743097" y="7139534"/>
            <a:ext cx="6492240" cy="0"/>
          </a:xfrm>
          <a:prstGeom prst="line">
            <a:avLst/>
          </a:prstGeom>
          <a:ln cap="flat" w="38100">
            <a:solidFill>
              <a:srgbClr val="000000"/>
            </a:solidFill>
            <a:prstDash val="solid"/>
            <a:headEnd type="none" len="sm" w="sm"/>
            <a:tailEnd type="none" len="sm" w="sm"/>
          </a:ln>
        </p:spPr>
      </p:sp>
      <p:sp>
        <p:nvSpPr>
          <p:cNvPr name="Freeform 3" id="3"/>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TextBox 5" id="5"/>
          <p:cNvSpPr txBox="true"/>
          <p:nvPr/>
        </p:nvSpPr>
        <p:spPr>
          <a:xfrm rot="0">
            <a:off x="3228024" y="3538086"/>
            <a:ext cx="11522386" cy="3479539"/>
          </a:xfrm>
          <a:prstGeom prst="rect">
            <a:avLst/>
          </a:prstGeom>
        </p:spPr>
        <p:txBody>
          <a:bodyPr anchor="t" rtlCol="false" tIns="0" lIns="0" bIns="0" rIns="0">
            <a:spAutoFit/>
          </a:bodyPr>
          <a:lstStyle/>
          <a:p>
            <a:pPr algn="ctr">
              <a:lnSpc>
                <a:spcPts val="6958"/>
              </a:lnSpc>
            </a:pPr>
            <a:r>
              <a:rPr lang="en-US" b="true" sz="5193">
                <a:solidFill>
                  <a:srgbClr val="1B1C54"/>
                </a:solidFill>
                <a:latin typeface="Be Vietnam Ultra-Bold"/>
                <a:ea typeface="Be Vietnam Ultra-Bold"/>
                <a:cs typeface="Be Vietnam Ultra-Bold"/>
                <a:sym typeface="Be Vietnam Ultra-Bold"/>
              </a:rPr>
              <a:t>XÂY DỰNG NỀN TẢNG DASHBOARD PHÂN TÍCH DỮ LIỆU HỌC TẬP </a:t>
            </a:r>
          </a:p>
          <a:p>
            <a:pPr algn="ctr">
              <a:lnSpc>
                <a:spcPts val="6958"/>
              </a:lnSpc>
            </a:pPr>
            <a:r>
              <a:rPr lang="en-US" b="true" sz="5193">
                <a:solidFill>
                  <a:srgbClr val="1B1C54"/>
                </a:solidFill>
                <a:latin typeface="Be Vietnam Ultra-Bold"/>
                <a:ea typeface="Be Vietnam Ultra-Bold"/>
                <a:cs typeface="Be Vietnam Ultra-Bold"/>
                <a:sym typeface="Be Vietnam Ultra-Bold"/>
              </a:rPr>
              <a:t>GIÚP GIÁM SÁT KẾT QUẢ NGƯỜI HỌC VÀ CẢNH BÁO SỚM HỌC VỤ </a:t>
            </a:r>
          </a:p>
        </p:txBody>
      </p:sp>
      <p:sp>
        <p:nvSpPr>
          <p:cNvPr name="TextBox 6" id="6"/>
          <p:cNvSpPr txBox="true"/>
          <p:nvPr/>
        </p:nvSpPr>
        <p:spPr>
          <a:xfrm rot="0">
            <a:off x="4011809" y="7603046"/>
            <a:ext cx="9259354" cy="488891"/>
          </a:xfrm>
          <a:prstGeom prst="rect">
            <a:avLst/>
          </a:prstGeom>
        </p:spPr>
        <p:txBody>
          <a:bodyPr anchor="t" rtlCol="false" tIns="0" lIns="0" bIns="0" rIns="0">
            <a:spAutoFit/>
          </a:bodyPr>
          <a:lstStyle/>
          <a:p>
            <a:pPr algn="ctr">
              <a:lnSpc>
                <a:spcPts val="4028"/>
              </a:lnSpc>
              <a:spcBef>
                <a:spcPct val="0"/>
              </a:spcBef>
            </a:pPr>
            <a:r>
              <a:rPr lang="en-US" sz="2877">
                <a:solidFill>
                  <a:srgbClr val="1B1C54"/>
                </a:solidFill>
                <a:latin typeface="Be Vietnam"/>
                <a:ea typeface="Be Vietnam"/>
                <a:cs typeface="Be Vietnam"/>
                <a:sym typeface="Be Vietnam"/>
              </a:rPr>
              <a:t>GIẢNG VIÊN HƯỚNG DẪN: </a:t>
            </a:r>
            <a:r>
              <a:rPr lang="en-US" b="true" sz="2877">
                <a:solidFill>
                  <a:srgbClr val="1B1C54"/>
                </a:solidFill>
                <a:latin typeface="Be Vietnam Ultra-Bold"/>
                <a:ea typeface="Be Vietnam Ultra-Bold"/>
                <a:cs typeface="Be Vietnam Ultra-Bold"/>
                <a:sym typeface="Be Vietnam Ultra-Bold"/>
              </a:rPr>
              <a:t>ThS Phan Thị Phương Nam</a:t>
            </a:r>
          </a:p>
        </p:txBody>
      </p:sp>
      <p:sp>
        <p:nvSpPr>
          <p:cNvPr name="TextBox 7" id="7"/>
          <p:cNvSpPr txBox="true"/>
          <p:nvPr/>
        </p:nvSpPr>
        <p:spPr>
          <a:xfrm rot="0">
            <a:off x="4707271" y="2005196"/>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8" id="8"/>
          <p:cNvSpPr txBox="true"/>
          <p:nvPr/>
        </p:nvSpPr>
        <p:spPr>
          <a:xfrm rot="0">
            <a:off x="4355993" y="-28575"/>
            <a:ext cx="9266447" cy="1419861"/>
          </a:xfrm>
          <a:prstGeom prst="rect">
            <a:avLst/>
          </a:prstGeom>
        </p:spPr>
        <p:txBody>
          <a:bodyPr anchor="t" rtlCol="false" tIns="0" lIns="0" bIns="0" rIns="0">
            <a:spAutoFit/>
          </a:bodyPr>
          <a:lstStyle/>
          <a:p>
            <a:pPr algn="ctr">
              <a:lnSpc>
                <a:spcPts val="5739"/>
              </a:lnSpc>
            </a:pPr>
            <a:r>
              <a:rPr lang="en-US" sz="4099" b="true">
                <a:solidFill>
                  <a:srgbClr val="1B1C54"/>
                </a:solidFill>
                <a:latin typeface="Be Vietnam Ultra-Bold"/>
                <a:ea typeface="Be Vietnam Ultra-Bold"/>
                <a:cs typeface="Be Vietnam Ultra-Bold"/>
                <a:sym typeface="Be Vietnam Ultra-Bold"/>
              </a:rPr>
              <a:t>TRƯỜNG KỸ THUẬT VÀ CÔNG NGHỆ</a:t>
            </a:r>
          </a:p>
          <a:p>
            <a:pPr algn="ctr">
              <a:lnSpc>
                <a:spcPts val="5739"/>
              </a:lnSpc>
            </a:pPr>
            <a:r>
              <a:rPr lang="en-US" sz="4099">
                <a:solidFill>
                  <a:srgbClr val="1B1C54"/>
                </a:solidFill>
                <a:latin typeface="Be Vietnam"/>
                <a:ea typeface="Be Vietnam"/>
                <a:cs typeface="Be Vietnam"/>
                <a:sym typeface="Be Vietnam"/>
              </a:rPr>
              <a:t>KHOA CÔNG NGHỆ THÔNG TIN</a:t>
            </a:r>
          </a:p>
        </p:txBody>
      </p:sp>
      <p:sp>
        <p:nvSpPr>
          <p:cNvPr name="TextBox 9" id="9"/>
          <p:cNvSpPr txBox="true"/>
          <p:nvPr/>
        </p:nvSpPr>
        <p:spPr>
          <a:xfrm rot="0">
            <a:off x="1339793" y="8349112"/>
            <a:ext cx="15298849" cy="488891"/>
          </a:xfrm>
          <a:prstGeom prst="rect">
            <a:avLst/>
          </a:prstGeom>
        </p:spPr>
        <p:txBody>
          <a:bodyPr anchor="t" rtlCol="false" tIns="0" lIns="0" bIns="0" rIns="0">
            <a:spAutoFit/>
          </a:bodyPr>
          <a:lstStyle/>
          <a:p>
            <a:pPr algn="l">
              <a:lnSpc>
                <a:spcPts val="4028"/>
              </a:lnSpc>
              <a:spcBef>
                <a:spcPct val="0"/>
              </a:spcBef>
            </a:pPr>
            <a:r>
              <a:rPr lang="en-US" sz="2877">
                <a:solidFill>
                  <a:srgbClr val="1B1C54"/>
                </a:solidFill>
                <a:latin typeface="Be Vietnam"/>
                <a:ea typeface="Be Vietnam"/>
                <a:cs typeface="Be Vietnam"/>
                <a:sym typeface="Be Vietnam"/>
              </a:rPr>
              <a:t>SINH VIÊN THỰC HIỆN: </a:t>
            </a:r>
            <a:r>
              <a:rPr lang="en-US" b="true" sz="2877">
                <a:solidFill>
                  <a:srgbClr val="1B1C54"/>
                </a:solidFill>
                <a:latin typeface="Be Vietnam Ultra-Bold"/>
                <a:ea typeface="Be Vietnam Ultra-Bold"/>
                <a:cs typeface="Be Vietnam Ultra-Bold"/>
                <a:sym typeface="Be Vietnam Ultra-Bold"/>
              </a:rPr>
              <a:t>Phan Nguyễn Hoàng Hân</a:t>
            </a:r>
            <a:r>
              <a:rPr lang="en-US" sz="2877">
                <a:solidFill>
                  <a:srgbClr val="1B1C54"/>
                </a:solidFill>
                <a:latin typeface="Be Vietnam"/>
                <a:ea typeface="Be Vietnam"/>
                <a:cs typeface="Be Vietnam"/>
                <a:sym typeface="Be Vietnam"/>
              </a:rPr>
              <a:t>       MSSV: </a:t>
            </a:r>
            <a:r>
              <a:rPr lang="en-US" b="true" sz="2877">
                <a:solidFill>
                  <a:srgbClr val="1B1C54"/>
                </a:solidFill>
                <a:latin typeface="Be Vietnam Ultra-Bold"/>
                <a:ea typeface="Be Vietnam Ultra-Bold"/>
                <a:cs typeface="Be Vietnam Ultra-Bold"/>
                <a:sym typeface="Be Vietnam Ultra-Bold"/>
              </a:rPr>
              <a:t>110122003</a:t>
            </a:r>
            <a:r>
              <a:rPr lang="en-US" sz="2877">
                <a:solidFill>
                  <a:srgbClr val="1B1C54"/>
                </a:solidFill>
                <a:latin typeface="Be Vietnam"/>
                <a:ea typeface="Be Vietnam"/>
                <a:cs typeface="Be Vietnam"/>
                <a:sym typeface="Be Vietnam"/>
              </a:rPr>
              <a:t>       LỚP: </a:t>
            </a:r>
            <a:r>
              <a:rPr lang="en-US" b="true" sz="2877">
                <a:solidFill>
                  <a:srgbClr val="1B1C54"/>
                </a:solidFill>
                <a:latin typeface="Be Vietnam Ultra-Bold"/>
                <a:ea typeface="Be Vietnam Ultra-Bold"/>
                <a:cs typeface="Be Vietnam Ultra-Bold"/>
                <a:sym typeface="Be Vietnam Ultra-Bold"/>
              </a:rPr>
              <a:t>DA22TTA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TextBox 4" id="4"/>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5" id="5"/>
          <p:cNvSpPr txBox="true"/>
          <p:nvPr/>
        </p:nvSpPr>
        <p:spPr>
          <a:xfrm rot="0">
            <a:off x="5530975" y="2061724"/>
            <a:ext cx="6916483"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NỘI DUNG</a:t>
            </a:r>
          </a:p>
        </p:txBody>
      </p:sp>
      <p:sp>
        <p:nvSpPr>
          <p:cNvPr name="AutoShape 6" id="6"/>
          <p:cNvSpPr/>
          <p:nvPr/>
        </p:nvSpPr>
        <p:spPr>
          <a:xfrm flipV="true">
            <a:off x="8057776" y="2898272"/>
            <a:ext cx="1915241" cy="0"/>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2034515" y="3534811"/>
            <a:ext cx="5538252"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1/ </a:t>
            </a:r>
            <a:r>
              <a:rPr lang="en-US" sz="3399">
                <a:solidFill>
                  <a:srgbClr val="1B1C54"/>
                </a:solidFill>
                <a:latin typeface="Be Vietnam"/>
                <a:ea typeface="Be Vietnam"/>
                <a:cs typeface="Be Vietnam"/>
                <a:sym typeface="Be Vietnam"/>
              </a:rPr>
              <a:t>Lý do và mục tiêu đề tài</a:t>
            </a:r>
          </a:p>
        </p:txBody>
      </p:sp>
      <p:sp>
        <p:nvSpPr>
          <p:cNvPr name="TextBox 8" id="8"/>
          <p:cNvSpPr txBox="true"/>
          <p:nvPr/>
        </p:nvSpPr>
        <p:spPr>
          <a:xfrm rot="0">
            <a:off x="2034515" y="4277127"/>
            <a:ext cx="5538252"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2/ </a:t>
            </a:r>
            <a:r>
              <a:rPr lang="en-US" sz="3399">
                <a:solidFill>
                  <a:srgbClr val="1B1C54"/>
                </a:solidFill>
                <a:latin typeface="Be Vietnam"/>
                <a:ea typeface="Be Vietnam"/>
                <a:cs typeface="Be Vietnam"/>
                <a:sym typeface="Be Vietnam"/>
              </a:rPr>
              <a:t>Công nghệ sử dụng</a:t>
            </a:r>
          </a:p>
        </p:txBody>
      </p:sp>
      <p:sp>
        <p:nvSpPr>
          <p:cNvPr name="TextBox 9" id="9"/>
          <p:cNvSpPr txBox="true"/>
          <p:nvPr/>
        </p:nvSpPr>
        <p:spPr>
          <a:xfrm rot="0">
            <a:off x="2034515" y="5019442"/>
            <a:ext cx="5538252"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3/ </a:t>
            </a:r>
            <a:r>
              <a:rPr lang="en-US" sz="3399">
                <a:solidFill>
                  <a:srgbClr val="1B1C54"/>
                </a:solidFill>
                <a:latin typeface="Be Vietnam"/>
                <a:ea typeface="Be Vietnam"/>
                <a:cs typeface="Be Vietnam"/>
                <a:sym typeface="Be Vietnam"/>
              </a:rPr>
              <a:t>Mô hình Usecase</a:t>
            </a:r>
          </a:p>
        </p:txBody>
      </p:sp>
      <p:sp>
        <p:nvSpPr>
          <p:cNvPr name="TextBox 10" id="10"/>
          <p:cNvSpPr txBox="true"/>
          <p:nvPr/>
        </p:nvSpPr>
        <p:spPr>
          <a:xfrm rot="0">
            <a:off x="2034515" y="5761758"/>
            <a:ext cx="5538252"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4/ </a:t>
            </a:r>
            <a:r>
              <a:rPr lang="en-US" sz="3399">
                <a:solidFill>
                  <a:srgbClr val="1B1C54"/>
                </a:solidFill>
                <a:latin typeface="Be Vietnam"/>
                <a:ea typeface="Be Vietnam"/>
                <a:cs typeface="Be Vietnam"/>
                <a:sym typeface="Be Vietnam"/>
              </a:rPr>
              <a:t>Mô hình quan hệ</a:t>
            </a:r>
          </a:p>
        </p:txBody>
      </p:sp>
      <p:sp>
        <p:nvSpPr>
          <p:cNvPr name="TextBox 11" id="11"/>
          <p:cNvSpPr txBox="true"/>
          <p:nvPr/>
        </p:nvSpPr>
        <p:spPr>
          <a:xfrm rot="0">
            <a:off x="2034515" y="6504073"/>
            <a:ext cx="5538252"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5/ </a:t>
            </a:r>
            <a:r>
              <a:rPr lang="en-US" sz="3399">
                <a:solidFill>
                  <a:srgbClr val="1B1C54"/>
                </a:solidFill>
                <a:latin typeface="Be Vietnam"/>
                <a:ea typeface="Be Vietnam"/>
                <a:cs typeface="Be Vietnam"/>
                <a:sym typeface="Be Vietnam"/>
              </a:rPr>
              <a:t>Sơ đồ kiến trúc tổng thể</a:t>
            </a:r>
          </a:p>
        </p:txBody>
      </p:sp>
      <p:sp>
        <p:nvSpPr>
          <p:cNvPr name="TextBox 12" id="12"/>
          <p:cNvSpPr txBox="true"/>
          <p:nvPr/>
        </p:nvSpPr>
        <p:spPr>
          <a:xfrm rot="0">
            <a:off x="2034515" y="7246389"/>
            <a:ext cx="5538252"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6/ </a:t>
            </a:r>
            <a:r>
              <a:rPr lang="en-US" sz="3399">
                <a:solidFill>
                  <a:srgbClr val="1B1C54"/>
                </a:solidFill>
                <a:latin typeface="Be Vietnam"/>
                <a:ea typeface="Be Vietnam"/>
                <a:cs typeface="Be Vietnam"/>
                <a:sym typeface="Be Vietnam"/>
              </a:rPr>
              <a:t>Usecase tổng quát</a:t>
            </a:r>
          </a:p>
        </p:txBody>
      </p:sp>
      <p:sp>
        <p:nvSpPr>
          <p:cNvPr name="TextBox 13" id="13"/>
          <p:cNvSpPr txBox="true"/>
          <p:nvPr/>
        </p:nvSpPr>
        <p:spPr>
          <a:xfrm rot="0">
            <a:off x="2034515" y="7988705"/>
            <a:ext cx="6174235"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7/</a:t>
            </a:r>
            <a:r>
              <a:rPr lang="en-US" sz="3399">
                <a:solidFill>
                  <a:srgbClr val="1B1C54"/>
                </a:solidFill>
                <a:latin typeface="Be Vietnam"/>
                <a:ea typeface="Be Vietnam"/>
                <a:cs typeface="Be Vietnam"/>
                <a:sym typeface="Be Vietnam"/>
              </a:rPr>
              <a:t> Biểu đồ phân rã chức năng</a:t>
            </a:r>
          </a:p>
        </p:txBody>
      </p:sp>
      <p:sp>
        <p:nvSpPr>
          <p:cNvPr name="TextBox 14" id="14"/>
          <p:cNvSpPr txBox="true"/>
          <p:nvPr/>
        </p:nvSpPr>
        <p:spPr>
          <a:xfrm rot="0">
            <a:off x="9382467" y="3534811"/>
            <a:ext cx="6564277"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8/ </a:t>
            </a:r>
            <a:r>
              <a:rPr lang="en-US" sz="3399">
                <a:solidFill>
                  <a:srgbClr val="1B1C54"/>
                </a:solidFill>
                <a:latin typeface="Be Vietnam"/>
                <a:ea typeface="Be Vietnam"/>
                <a:cs typeface="Be Vietnam"/>
                <a:sym typeface="Be Vietnam"/>
              </a:rPr>
              <a:t>Tính điểm kết thúc học phần</a:t>
            </a:r>
          </a:p>
        </p:txBody>
      </p:sp>
      <p:sp>
        <p:nvSpPr>
          <p:cNvPr name="TextBox 15" id="15"/>
          <p:cNvSpPr txBox="true"/>
          <p:nvPr/>
        </p:nvSpPr>
        <p:spPr>
          <a:xfrm rot="0">
            <a:off x="9403325" y="4257442"/>
            <a:ext cx="6064419"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9/ </a:t>
            </a:r>
            <a:r>
              <a:rPr lang="en-US" sz="3399">
                <a:solidFill>
                  <a:srgbClr val="1B1C54"/>
                </a:solidFill>
                <a:latin typeface="Be Vietnam"/>
                <a:ea typeface="Be Vietnam"/>
                <a:cs typeface="Be Vietnam"/>
                <a:sym typeface="Be Vietnam"/>
              </a:rPr>
              <a:t>Tính ĐTBCHK và ĐTBCTL</a:t>
            </a:r>
          </a:p>
        </p:txBody>
      </p:sp>
      <p:sp>
        <p:nvSpPr>
          <p:cNvPr name="TextBox 16" id="16"/>
          <p:cNvSpPr txBox="true"/>
          <p:nvPr/>
        </p:nvSpPr>
        <p:spPr>
          <a:xfrm rot="0">
            <a:off x="9382467" y="4995312"/>
            <a:ext cx="6064419"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10/ </a:t>
            </a:r>
            <a:r>
              <a:rPr lang="en-US" sz="3399">
                <a:solidFill>
                  <a:srgbClr val="1B1C54"/>
                </a:solidFill>
                <a:latin typeface="Be Vietnam"/>
                <a:ea typeface="Be Vietnam"/>
                <a:cs typeface="Be Vietnam"/>
                <a:sym typeface="Be Vietnam"/>
              </a:rPr>
              <a:t>Bảng quy đổi điểm hệ 4</a:t>
            </a:r>
          </a:p>
        </p:txBody>
      </p:sp>
      <p:sp>
        <p:nvSpPr>
          <p:cNvPr name="TextBox 17" id="17"/>
          <p:cNvSpPr txBox="true"/>
          <p:nvPr/>
        </p:nvSpPr>
        <p:spPr>
          <a:xfrm rot="0">
            <a:off x="9382467" y="5737628"/>
            <a:ext cx="6327502"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11/ </a:t>
            </a:r>
            <a:r>
              <a:rPr lang="en-US" sz="3399">
                <a:solidFill>
                  <a:srgbClr val="1B1C54"/>
                </a:solidFill>
                <a:latin typeface="Be Vietnam"/>
                <a:ea typeface="Be Vietnam"/>
                <a:cs typeface="Be Vietnam"/>
                <a:sym typeface="Be Vietnam"/>
              </a:rPr>
              <a:t>Điều kiện cảnh báo học vụ</a:t>
            </a:r>
          </a:p>
        </p:txBody>
      </p:sp>
      <p:sp>
        <p:nvSpPr>
          <p:cNvPr name="TextBox 18" id="18"/>
          <p:cNvSpPr txBox="true"/>
          <p:nvPr/>
        </p:nvSpPr>
        <p:spPr>
          <a:xfrm rot="0">
            <a:off x="9403325" y="6504073"/>
            <a:ext cx="6327502"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12/ </a:t>
            </a:r>
            <a:r>
              <a:rPr lang="en-US" sz="3399">
                <a:solidFill>
                  <a:srgbClr val="1B1C54"/>
                </a:solidFill>
                <a:latin typeface="Be Vietnam"/>
                <a:ea typeface="Be Vietnam"/>
                <a:cs typeface="Be Vietnam"/>
                <a:sym typeface="Be Vietnam"/>
              </a:rPr>
              <a:t>Điều kiện buộc thôi học</a:t>
            </a:r>
          </a:p>
        </p:txBody>
      </p:sp>
      <p:sp>
        <p:nvSpPr>
          <p:cNvPr name="TextBox 19" id="19"/>
          <p:cNvSpPr txBox="true"/>
          <p:nvPr/>
        </p:nvSpPr>
        <p:spPr>
          <a:xfrm rot="0">
            <a:off x="9382467" y="7246389"/>
            <a:ext cx="8287474"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13/ </a:t>
            </a:r>
            <a:r>
              <a:rPr lang="en-US" sz="3399">
                <a:solidFill>
                  <a:srgbClr val="1B1C54"/>
                </a:solidFill>
                <a:latin typeface="Be Vietnam"/>
                <a:ea typeface="Be Vietnam"/>
                <a:cs typeface="Be Vietnam"/>
                <a:sym typeface="Be Vietnam"/>
              </a:rPr>
              <a:t>Quy trình tính cảnh báo sớm học vụ</a:t>
            </a:r>
          </a:p>
        </p:txBody>
      </p:sp>
      <p:sp>
        <p:nvSpPr>
          <p:cNvPr name="TextBox 20" id="20"/>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2/18</a:t>
            </a: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TextBox 4" id="4"/>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5" id="5"/>
          <p:cNvSpPr txBox="true"/>
          <p:nvPr/>
        </p:nvSpPr>
        <p:spPr>
          <a:xfrm rot="0">
            <a:off x="5530975" y="2061724"/>
            <a:ext cx="6916483"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1. LÝ DO VÀ MỤC TIÊU ĐỀ TÀI</a:t>
            </a:r>
          </a:p>
        </p:txBody>
      </p:sp>
      <p:sp>
        <p:nvSpPr>
          <p:cNvPr name="TextBox 6" id="6"/>
          <p:cNvSpPr txBox="true"/>
          <p:nvPr/>
        </p:nvSpPr>
        <p:spPr>
          <a:xfrm rot="0">
            <a:off x="2034515" y="3534811"/>
            <a:ext cx="4272090"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LÝ DO CHỌN ĐỀ TÀI:</a:t>
            </a:r>
          </a:p>
        </p:txBody>
      </p:sp>
      <p:sp>
        <p:nvSpPr>
          <p:cNvPr name="TextBox 7" id="7"/>
          <p:cNvSpPr txBox="true"/>
          <p:nvPr/>
        </p:nvSpPr>
        <p:spPr>
          <a:xfrm rot="0">
            <a:off x="2448222" y="4452256"/>
            <a:ext cx="11373474" cy="1771016"/>
          </a:xfrm>
          <a:prstGeom prst="rect">
            <a:avLst/>
          </a:prstGeom>
        </p:spPr>
        <p:txBody>
          <a:bodyPr anchor="t" rtlCol="false" tIns="0" lIns="0" bIns="0" rIns="0">
            <a:spAutoFit/>
          </a:bodyPr>
          <a:lstStyle/>
          <a:p>
            <a:pPr algn="l" marL="734055" indent="-367027" lvl="1">
              <a:lnSpc>
                <a:spcPts val="4759"/>
              </a:lnSpc>
              <a:buFont typeface="Arial"/>
              <a:buChar char="•"/>
            </a:pPr>
            <a:r>
              <a:rPr lang="en-US" sz="3399">
                <a:solidFill>
                  <a:srgbClr val="1B1C54"/>
                </a:solidFill>
                <a:latin typeface="Be Vietnam"/>
                <a:ea typeface="Be Vietnam"/>
                <a:cs typeface="Be Vietnam"/>
                <a:sym typeface="Be Vietnam"/>
              </a:rPr>
              <a:t>Ứng dụng công nghệ thông tin trong giáo dục.</a:t>
            </a:r>
          </a:p>
          <a:p>
            <a:pPr algn="l" marL="734055" indent="-367027" lvl="1">
              <a:lnSpc>
                <a:spcPts val="4759"/>
              </a:lnSpc>
              <a:buFont typeface="Arial"/>
              <a:buChar char="•"/>
            </a:pPr>
            <a:r>
              <a:rPr lang="en-US" sz="3399">
                <a:solidFill>
                  <a:srgbClr val="1B1C54"/>
                </a:solidFill>
                <a:latin typeface="Be Vietnam"/>
                <a:ea typeface="Be Vietnam"/>
                <a:cs typeface="Be Vietnam"/>
                <a:sym typeface="Be Vietnam"/>
              </a:rPr>
              <a:t>Sự cần thiết của phân tích dữ liệu học tập.</a:t>
            </a:r>
          </a:p>
          <a:p>
            <a:pPr algn="l" marL="734055" indent="-367027" lvl="1">
              <a:lnSpc>
                <a:spcPts val="4759"/>
              </a:lnSpc>
              <a:buFont typeface="Arial"/>
              <a:buChar char="•"/>
            </a:pPr>
            <a:r>
              <a:rPr lang="en-US" sz="3399">
                <a:solidFill>
                  <a:srgbClr val="1B1C54"/>
                </a:solidFill>
                <a:latin typeface="Be Vietnam"/>
                <a:ea typeface="Be Vietnam"/>
                <a:cs typeface="Be Vietnam"/>
                <a:sym typeface="Be Vietnam"/>
              </a:rPr>
              <a:t>Khó khăn trong việc quản lý của giáo vụ và cố vấn.</a:t>
            </a:r>
          </a:p>
        </p:txBody>
      </p:sp>
      <p:sp>
        <p:nvSpPr>
          <p:cNvPr name="TextBox 8" id="8"/>
          <p:cNvSpPr txBox="true"/>
          <p:nvPr/>
        </p:nvSpPr>
        <p:spPr>
          <a:xfrm rot="0">
            <a:off x="2034515" y="6755583"/>
            <a:ext cx="4272090" cy="570866"/>
          </a:xfrm>
          <a:prstGeom prst="rect">
            <a:avLst/>
          </a:prstGeom>
        </p:spPr>
        <p:txBody>
          <a:bodyPr anchor="t" rtlCol="false" tIns="0" lIns="0" bIns="0" rIns="0">
            <a:spAutoFit/>
          </a:bodyPr>
          <a:lstStyle/>
          <a:p>
            <a:pPr algn="l">
              <a:lnSpc>
                <a:spcPts val="4759"/>
              </a:lnSpc>
            </a:pPr>
            <a:r>
              <a:rPr lang="en-US" sz="3399" b="true">
                <a:solidFill>
                  <a:srgbClr val="1B1C54"/>
                </a:solidFill>
                <a:latin typeface="Be Vietnam Ultra-Bold"/>
                <a:ea typeface="Be Vietnam Ultra-Bold"/>
                <a:cs typeface="Be Vietnam Ultra-Bold"/>
                <a:sym typeface="Be Vietnam Ultra-Bold"/>
              </a:rPr>
              <a:t>MỤC TIÊU ĐỀ TÀI:</a:t>
            </a:r>
          </a:p>
        </p:txBody>
      </p:sp>
      <p:sp>
        <p:nvSpPr>
          <p:cNvPr name="TextBox 9" id="9"/>
          <p:cNvSpPr txBox="true"/>
          <p:nvPr/>
        </p:nvSpPr>
        <p:spPr>
          <a:xfrm rot="0">
            <a:off x="2448222" y="7726498"/>
            <a:ext cx="14050319" cy="1170941"/>
          </a:xfrm>
          <a:prstGeom prst="rect">
            <a:avLst/>
          </a:prstGeom>
        </p:spPr>
        <p:txBody>
          <a:bodyPr anchor="t" rtlCol="false" tIns="0" lIns="0" bIns="0" rIns="0">
            <a:spAutoFit/>
          </a:bodyPr>
          <a:lstStyle/>
          <a:p>
            <a:pPr algn="l" marL="734055" indent="-367027" lvl="1">
              <a:lnSpc>
                <a:spcPts val="4759"/>
              </a:lnSpc>
              <a:buFont typeface="Arial"/>
              <a:buChar char="•"/>
            </a:pPr>
            <a:r>
              <a:rPr lang="en-US" sz="3399">
                <a:solidFill>
                  <a:srgbClr val="1B1C54"/>
                </a:solidFill>
                <a:latin typeface="Be Vietnam"/>
                <a:ea typeface="Be Vietnam"/>
                <a:cs typeface="Be Vietnam"/>
                <a:sym typeface="Be Vietnam"/>
              </a:rPr>
              <a:t>Xây dựng hệ thống hỗ trợ theo dõi, phân tích kết quả học tập.</a:t>
            </a:r>
          </a:p>
          <a:p>
            <a:pPr algn="l" marL="734055" indent="-367027" lvl="1">
              <a:lnSpc>
                <a:spcPts val="4759"/>
              </a:lnSpc>
              <a:buFont typeface="Arial"/>
              <a:buChar char="•"/>
            </a:pPr>
            <a:r>
              <a:rPr lang="en-US" sz="3399">
                <a:solidFill>
                  <a:srgbClr val="1B1C54"/>
                </a:solidFill>
                <a:latin typeface="Be Vietnam"/>
                <a:ea typeface="Be Vietnam"/>
                <a:cs typeface="Be Vietnam"/>
                <a:sym typeface="Be Vietnam"/>
              </a:rPr>
              <a:t>Nâng cao hiệu quả quán lý và hỗ trợ học tập cho sinh viên.</a:t>
            </a:r>
          </a:p>
        </p:txBody>
      </p:sp>
      <p:sp>
        <p:nvSpPr>
          <p:cNvPr name="AutoShape 10" id="10"/>
          <p:cNvSpPr/>
          <p:nvPr/>
        </p:nvSpPr>
        <p:spPr>
          <a:xfrm flipV="true">
            <a:off x="6459826" y="2898272"/>
            <a:ext cx="5058781" cy="0"/>
          </a:xfrm>
          <a:prstGeom prst="line">
            <a:avLst/>
          </a:prstGeom>
          <a:ln cap="flat" w="38100">
            <a:solidFill>
              <a:srgbClr val="000000"/>
            </a:solidFill>
            <a:prstDash val="solid"/>
            <a:headEnd type="none" len="sm" w="sm"/>
            <a:tailEnd type="none" len="sm" w="sm"/>
          </a:ln>
        </p:spPr>
      </p:sp>
      <p:sp>
        <p:nvSpPr>
          <p:cNvPr name="TextBox 11" id="11"/>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3/18</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TextBox 4" id="4"/>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5" id="5"/>
          <p:cNvSpPr txBox="true"/>
          <p:nvPr/>
        </p:nvSpPr>
        <p:spPr>
          <a:xfrm rot="0">
            <a:off x="5530975" y="2061724"/>
            <a:ext cx="6916483"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2. CÔNG NGHỆ SỬ DỤNG</a:t>
            </a:r>
          </a:p>
        </p:txBody>
      </p:sp>
      <p:sp>
        <p:nvSpPr>
          <p:cNvPr name="AutoShape 6" id="6"/>
          <p:cNvSpPr/>
          <p:nvPr/>
        </p:nvSpPr>
        <p:spPr>
          <a:xfrm flipV="true">
            <a:off x="6998613" y="2898272"/>
            <a:ext cx="4033307" cy="0"/>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2788727" y="4090258"/>
            <a:ext cx="11230974" cy="3351219"/>
          </a:xfrm>
          <a:prstGeom prst="rect">
            <a:avLst/>
          </a:prstGeom>
        </p:spPr>
        <p:txBody>
          <a:bodyPr anchor="t" rtlCol="false" tIns="0" lIns="0" bIns="0" rIns="0">
            <a:spAutoFit/>
          </a:bodyPr>
          <a:lstStyle/>
          <a:p>
            <a:pPr algn="l" marL="814104" indent="-407052" lvl="1">
              <a:lnSpc>
                <a:spcPts val="6787"/>
              </a:lnSpc>
              <a:buFont typeface="Arial"/>
              <a:buChar char="•"/>
            </a:pPr>
            <a:r>
              <a:rPr lang="en-US" b="true" sz="3770">
                <a:solidFill>
                  <a:srgbClr val="1B1C54"/>
                </a:solidFill>
                <a:latin typeface="Be Vietnam Ultra-Bold"/>
                <a:ea typeface="Be Vietnam Ultra-Bold"/>
                <a:cs typeface="Be Vietnam Ultra-Bold"/>
                <a:sym typeface="Be Vietnam Ultra-Bold"/>
              </a:rPr>
              <a:t>BACKEND: </a:t>
            </a:r>
            <a:r>
              <a:rPr lang="en-US" sz="3770">
                <a:solidFill>
                  <a:srgbClr val="1B1C54"/>
                </a:solidFill>
                <a:latin typeface="Be Vietnam"/>
                <a:ea typeface="Be Vietnam"/>
                <a:cs typeface="Be Vietnam"/>
                <a:sym typeface="Be Vietnam"/>
              </a:rPr>
              <a:t>Framework Django Python.</a:t>
            </a:r>
          </a:p>
          <a:p>
            <a:pPr algn="l" marL="814104" indent="-407052" lvl="1">
              <a:lnSpc>
                <a:spcPts val="6787"/>
              </a:lnSpc>
              <a:buFont typeface="Arial"/>
              <a:buChar char="•"/>
            </a:pPr>
            <a:r>
              <a:rPr lang="en-US" b="true" sz="3770">
                <a:solidFill>
                  <a:srgbClr val="1B1C54"/>
                </a:solidFill>
                <a:latin typeface="Be Vietnam Ultra-Bold"/>
                <a:ea typeface="Be Vietnam Ultra-Bold"/>
                <a:cs typeface="Be Vietnam Ultra-Bold"/>
                <a:sym typeface="Be Vietnam Ultra-Bold"/>
              </a:rPr>
              <a:t>FRONTEND: </a:t>
            </a:r>
            <a:r>
              <a:rPr lang="en-US" sz="3770">
                <a:solidFill>
                  <a:srgbClr val="1B1C54"/>
                </a:solidFill>
                <a:latin typeface="Be Vietnam"/>
                <a:ea typeface="Be Vietnam"/>
                <a:cs typeface="Be Vietnam"/>
                <a:sym typeface="Be Vietnam"/>
              </a:rPr>
              <a:t>HTML, CSS, JavaScript, Bootstrap, Chart.js và Thư viện hỗ trợ Openpyxl.</a:t>
            </a:r>
          </a:p>
          <a:p>
            <a:pPr algn="l" marL="814104" indent="-407052" lvl="1">
              <a:lnSpc>
                <a:spcPts val="6787"/>
              </a:lnSpc>
              <a:buFont typeface="Arial"/>
              <a:buChar char="•"/>
            </a:pPr>
            <a:r>
              <a:rPr lang="en-US" b="true" sz="3770">
                <a:solidFill>
                  <a:srgbClr val="1B1C54"/>
                </a:solidFill>
                <a:latin typeface="Be Vietnam Ultra-Bold"/>
                <a:ea typeface="Be Vietnam Ultra-Bold"/>
                <a:cs typeface="Be Vietnam Ultra-Bold"/>
                <a:sym typeface="Be Vietnam Ultra-Bold"/>
              </a:rPr>
              <a:t>DATABASE</a:t>
            </a:r>
            <a:r>
              <a:rPr lang="en-US" sz="3770">
                <a:solidFill>
                  <a:srgbClr val="1B1C54"/>
                </a:solidFill>
                <a:latin typeface="Be Vietnam"/>
                <a:ea typeface="Be Vietnam"/>
                <a:cs typeface="Be Vietnam"/>
                <a:sym typeface="Be Vietnam"/>
              </a:rPr>
              <a:t>: SQLite.</a:t>
            </a:r>
          </a:p>
        </p:txBody>
      </p:sp>
      <p:sp>
        <p:nvSpPr>
          <p:cNvPr name="TextBox 8" id="8"/>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4/18</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AutoShape 4" id="4"/>
          <p:cNvSpPr/>
          <p:nvPr/>
        </p:nvSpPr>
        <p:spPr>
          <a:xfrm>
            <a:off x="861400" y="2564561"/>
            <a:ext cx="2296393" cy="0"/>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0">
            <a:off x="4234917" y="1839688"/>
            <a:ext cx="12394786" cy="7767530"/>
          </a:xfrm>
          <a:custGeom>
            <a:avLst/>
            <a:gdLst/>
            <a:ahLst/>
            <a:cxnLst/>
            <a:rect r="r" b="b" t="t" l="l"/>
            <a:pathLst>
              <a:path h="7767530" w="12394786">
                <a:moveTo>
                  <a:pt x="0" y="0"/>
                </a:moveTo>
                <a:lnTo>
                  <a:pt x="12394785" y="0"/>
                </a:lnTo>
                <a:lnTo>
                  <a:pt x="12394785" y="7767529"/>
                </a:lnTo>
                <a:lnTo>
                  <a:pt x="0" y="7767529"/>
                </a:lnTo>
                <a:lnTo>
                  <a:pt x="0" y="0"/>
                </a:lnTo>
                <a:close/>
              </a:path>
            </a:pathLst>
          </a:custGeom>
          <a:blipFill>
            <a:blip r:embed="rId5"/>
            <a:stretch>
              <a:fillRect l="0" t="0" r="0" b="0"/>
            </a:stretch>
          </a:blipFill>
        </p:spPr>
      </p:sp>
      <p:sp>
        <p:nvSpPr>
          <p:cNvPr name="TextBox 6" id="6"/>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7" id="7"/>
          <p:cNvSpPr txBox="true"/>
          <p:nvPr/>
        </p:nvSpPr>
        <p:spPr>
          <a:xfrm rot="0">
            <a:off x="-1385626" y="1827960"/>
            <a:ext cx="6916483"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3. MÔ HÌNH ERD</a:t>
            </a:r>
          </a:p>
        </p:txBody>
      </p:sp>
      <p:sp>
        <p:nvSpPr>
          <p:cNvPr name="TextBox 8" id="8"/>
          <p:cNvSpPr txBox="true"/>
          <p:nvPr/>
        </p:nvSpPr>
        <p:spPr>
          <a:xfrm rot="0">
            <a:off x="16364036" y="9614539"/>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5/18</a:t>
            </a:r>
          </a:p>
        </p:txBody>
      </p:sp>
    </p:spTree>
  </p:cSld>
  <p:clrMapOvr>
    <a:masterClrMapping/>
  </p:clrMapOvr>
  <p:transition spd="fast">
    <p:push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TextBox 4" id="4"/>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5" id="5"/>
          <p:cNvSpPr txBox="true"/>
          <p:nvPr/>
        </p:nvSpPr>
        <p:spPr>
          <a:xfrm rot="0">
            <a:off x="5530975" y="2061724"/>
            <a:ext cx="6916483"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4. MÔ HÌNH QUAN HỆ</a:t>
            </a:r>
          </a:p>
        </p:txBody>
      </p:sp>
      <p:sp>
        <p:nvSpPr>
          <p:cNvPr name="AutoShape 6" id="6"/>
          <p:cNvSpPr/>
          <p:nvPr/>
        </p:nvSpPr>
        <p:spPr>
          <a:xfrm flipV="true">
            <a:off x="6998613" y="2898272"/>
            <a:ext cx="4033307" cy="0"/>
          </a:xfrm>
          <a:prstGeom prst="line">
            <a:avLst/>
          </a:prstGeom>
          <a:ln cap="flat" w="38100">
            <a:solidFill>
              <a:srgbClr val="000000"/>
            </a:solidFill>
            <a:prstDash val="solid"/>
            <a:headEnd type="none" len="sm" w="sm"/>
            <a:tailEnd type="none" len="sm" w="sm"/>
          </a:ln>
        </p:spPr>
      </p:sp>
      <p:sp>
        <p:nvSpPr>
          <p:cNvPr name="TextBox 7" id="7"/>
          <p:cNvSpPr txBox="true"/>
          <p:nvPr/>
        </p:nvSpPr>
        <p:spPr>
          <a:xfrm rot="0">
            <a:off x="1414208" y="3011791"/>
            <a:ext cx="15387711" cy="6044887"/>
          </a:xfrm>
          <a:prstGeom prst="rect">
            <a:avLst/>
          </a:prstGeom>
        </p:spPr>
        <p:txBody>
          <a:bodyPr anchor="t" rtlCol="false" tIns="0" lIns="0" bIns="0" rIns="0">
            <a:spAutoFit/>
          </a:bodyPr>
          <a:lstStyle/>
          <a:p>
            <a:pPr algn="l" marL="576620" indent="-288310" lvl="1">
              <a:lnSpc>
                <a:spcPts val="4807"/>
              </a:lnSpc>
              <a:buFont typeface="Arial"/>
              <a:buChar char="•"/>
            </a:pPr>
            <a:r>
              <a:rPr lang="en-US" b="true" sz="2670">
                <a:solidFill>
                  <a:srgbClr val="1B1C54"/>
                </a:solidFill>
                <a:latin typeface="Be Vietnam Ultra-Bold"/>
                <a:ea typeface="Be Vietnam Ultra-Bold"/>
                <a:cs typeface="Be Vietnam Ultra-Bold"/>
                <a:sym typeface="Be Vietnam Ultra-Bold"/>
              </a:rPr>
              <a:t>1. KHOA </a:t>
            </a:r>
            <a:r>
              <a:rPr lang="en-US" sz="2670">
                <a:solidFill>
                  <a:srgbClr val="1B1C54"/>
                </a:solidFill>
                <a:latin typeface="Be Vietnam"/>
                <a:ea typeface="Be Vietnam"/>
                <a:cs typeface="Be Vietnam"/>
                <a:sym typeface="Be Vietnam"/>
              </a:rPr>
              <a:t>(</a:t>
            </a:r>
            <a:r>
              <a:rPr lang="en-US" b="true" sz="2670" u="sng">
                <a:solidFill>
                  <a:srgbClr val="1B1C54"/>
                </a:solidFill>
                <a:latin typeface="Be Vietnam Ultra-Bold"/>
                <a:ea typeface="Be Vietnam Ultra-Bold"/>
                <a:cs typeface="Be Vietnam Ultra-Bold"/>
                <a:sym typeface="Be Vietnam Ultra-Bold"/>
              </a:rPr>
              <a:t>Ma_Khoa</a:t>
            </a:r>
            <a:r>
              <a:rPr lang="en-US" sz="2670">
                <a:solidFill>
                  <a:srgbClr val="1B1C54"/>
                </a:solidFill>
                <a:latin typeface="Be Vietnam"/>
                <a:ea typeface="Be Vietnam"/>
                <a:cs typeface="Be Vietnam"/>
                <a:sym typeface="Be Vietnam"/>
              </a:rPr>
              <a:t>, Ten_Khoa, Mo_Ta_Khoa).</a:t>
            </a:r>
          </a:p>
          <a:p>
            <a:pPr algn="l" marL="576620" indent="-288310" lvl="1">
              <a:lnSpc>
                <a:spcPts val="4807"/>
              </a:lnSpc>
              <a:buFont typeface="Arial"/>
              <a:buChar char="•"/>
            </a:pPr>
            <a:r>
              <a:rPr lang="en-US" b="true" sz="2670">
                <a:solidFill>
                  <a:srgbClr val="1B1C54"/>
                </a:solidFill>
                <a:latin typeface="Be Vietnam Ultra-Bold"/>
                <a:ea typeface="Be Vietnam Ultra-Bold"/>
                <a:cs typeface="Be Vietnam Ultra-Bold"/>
                <a:sym typeface="Be Vietnam Ultra-Bold"/>
              </a:rPr>
              <a:t> 2. GIANG_VIEN</a:t>
            </a:r>
            <a:r>
              <a:rPr lang="en-US" sz="2670">
                <a:solidFill>
                  <a:srgbClr val="1B1C54"/>
                </a:solidFill>
                <a:latin typeface="Be Vietnam"/>
                <a:ea typeface="Be Vietnam"/>
                <a:cs typeface="Be Vietnam"/>
                <a:sym typeface="Be Vietnam"/>
              </a:rPr>
              <a:t> (</a:t>
            </a:r>
            <a:r>
              <a:rPr lang="en-US" b="true" sz="2670" u="sng">
                <a:solidFill>
                  <a:srgbClr val="1B1C54"/>
                </a:solidFill>
                <a:latin typeface="Be Vietnam Ultra-Bold"/>
                <a:ea typeface="Be Vietnam Ultra-Bold"/>
                <a:cs typeface="Be Vietnam Ultra-Bold"/>
                <a:sym typeface="Be Vietnam Ultra-Bold"/>
              </a:rPr>
              <a:t>Ma_GV</a:t>
            </a:r>
            <a:r>
              <a:rPr lang="en-US" sz="2670">
                <a:solidFill>
                  <a:srgbClr val="1B1C54"/>
                </a:solidFill>
                <a:latin typeface="Be Vietnam"/>
                <a:ea typeface="Be Vietnam"/>
                <a:cs typeface="Be Vietnam"/>
                <a:sym typeface="Be Vietnam"/>
              </a:rPr>
              <a:t>, Ho_Ten_GV, Email_GV, Chuc_Danh, </a:t>
            </a:r>
            <a:r>
              <a:rPr lang="en-US" sz="2670" i="true" u="sng">
                <a:solidFill>
                  <a:srgbClr val="1B1C54"/>
                </a:solidFill>
                <a:latin typeface="Be Vietnam Italics"/>
                <a:ea typeface="Be Vietnam Italics"/>
                <a:cs typeface="Be Vietnam Italics"/>
                <a:sym typeface="Be Vietnam Italics"/>
              </a:rPr>
              <a:t>Ma_Khoa</a:t>
            </a:r>
            <a:r>
              <a:rPr lang="en-US" sz="2670">
                <a:solidFill>
                  <a:srgbClr val="1B1C54"/>
                </a:solidFill>
                <a:latin typeface="Be Vietnam"/>
                <a:ea typeface="Be Vietnam"/>
                <a:cs typeface="Be Vietnam"/>
                <a:sym typeface="Be Vietnam"/>
              </a:rPr>
              <a:t>).</a:t>
            </a:r>
          </a:p>
          <a:p>
            <a:pPr algn="l" marL="576620" indent="-288310" lvl="1">
              <a:lnSpc>
                <a:spcPts val="4807"/>
              </a:lnSpc>
              <a:buFont typeface="Arial"/>
              <a:buChar char="•"/>
            </a:pPr>
            <a:r>
              <a:rPr lang="en-US" b="true" sz="2670">
                <a:solidFill>
                  <a:srgbClr val="1B1C54"/>
                </a:solidFill>
                <a:latin typeface="Be Vietnam Ultra-Bold"/>
                <a:ea typeface="Be Vietnam Ultra-Bold"/>
                <a:cs typeface="Be Vietnam Ultra-Bold"/>
                <a:sym typeface="Be Vietnam Ultra-Bold"/>
              </a:rPr>
              <a:t> 3. CHU</a:t>
            </a:r>
            <a:r>
              <a:rPr lang="en-US" b="true" sz="2670">
                <a:solidFill>
                  <a:srgbClr val="1B1C54"/>
                </a:solidFill>
                <a:latin typeface="Be Vietnam Ultra-Bold"/>
                <a:ea typeface="Be Vietnam Ultra-Bold"/>
                <a:cs typeface="Be Vietnam Ultra-Bold"/>
                <a:sym typeface="Be Vietnam Ultra-Bold"/>
              </a:rPr>
              <a:t>ONG_TRINH_DAO_TAO </a:t>
            </a:r>
            <a:r>
              <a:rPr lang="en-US" sz="2670">
                <a:solidFill>
                  <a:srgbClr val="1B1C54"/>
                </a:solidFill>
                <a:latin typeface="Be Vietnam"/>
                <a:ea typeface="Be Vietnam"/>
                <a:cs typeface="Be Vietnam"/>
                <a:sym typeface="Be Vietnam"/>
              </a:rPr>
              <a:t>(</a:t>
            </a:r>
            <a:r>
              <a:rPr lang="en-US" b="true" sz="2670" u="sng">
                <a:solidFill>
                  <a:srgbClr val="1B1C54"/>
                </a:solidFill>
                <a:latin typeface="Be Vietnam Ultra-Bold"/>
                <a:ea typeface="Be Vietnam Ultra-Bold"/>
                <a:cs typeface="Be Vietnam Ultra-Bold"/>
                <a:sym typeface="Be Vietnam Ultra-Bold"/>
              </a:rPr>
              <a:t>Ma_CTDT</a:t>
            </a:r>
            <a:r>
              <a:rPr lang="en-US" sz="2670">
                <a:solidFill>
                  <a:srgbClr val="1B1C54"/>
                </a:solidFill>
                <a:latin typeface="Be Vietnam"/>
                <a:ea typeface="Be Vietnam"/>
                <a:cs typeface="Be Vietnam"/>
                <a:sym typeface="Be Vietnam"/>
              </a:rPr>
              <a:t>, Ten_CTDT, Mo_Ta_CHDT, So_Quyet_Dinh).</a:t>
            </a:r>
          </a:p>
          <a:p>
            <a:pPr algn="l" marL="576620" indent="-288310" lvl="1">
              <a:lnSpc>
                <a:spcPts val="4807"/>
              </a:lnSpc>
              <a:buFont typeface="Arial"/>
              <a:buChar char="•"/>
            </a:pPr>
            <a:r>
              <a:rPr lang="en-US" b="true" sz="2670">
                <a:solidFill>
                  <a:srgbClr val="1B1C54"/>
                </a:solidFill>
                <a:latin typeface="Be Vietnam Ultra-Bold"/>
                <a:ea typeface="Be Vietnam Ultra-Bold"/>
                <a:cs typeface="Be Vietnam Ultra-Bold"/>
                <a:sym typeface="Be Vietnam Ultra-Bold"/>
              </a:rPr>
              <a:t> 4. LOP_HOC </a:t>
            </a:r>
            <a:r>
              <a:rPr lang="en-US" sz="2670">
                <a:solidFill>
                  <a:srgbClr val="1B1C54"/>
                </a:solidFill>
                <a:latin typeface="Be Vietnam"/>
                <a:ea typeface="Be Vietnam"/>
                <a:cs typeface="Be Vietnam"/>
                <a:sym typeface="Be Vietnam"/>
              </a:rPr>
              <a:t>(</a:t>
            </a:r>
            <a:r>
              <a:rPr lang="en-US" b="true" sz="2670" u="sng">
                <a:solidFill>
                  <a:srgbClr val="1B1C54"/>
                </a:solidFill>
                <a:latin typeface="Be Vietnam Ultra-Bold"/>
                <a:ea typeface="Be Vietnam Ultra-Bold"/>
                <a:cs typeface="Be Vietnam Ultra-Bold"/>
                <a:sym typeface="Be Vietnam Ultra-Bold"/>
              </a:rPr>
              <a:t>Ma_Lop</a:t>
            </a:r>
            <a:r>
              <a:rPr lang="en-US" sz="2670">
                <a:solidFill>
                  <a:srgbClr val="1B1C54"/>
                </a:solidFill>
                <a:latin typeface="Be Vietnam"/>
                <a:ea typeface="Be Vietnam"/>
                <a:cs typeface="Be Vietnam"/>
                <a:sym typeface="Be Vietnam"/>
              </a:rPr>
              <a:t>, Ten_Lop, Khoa_Hoc, TG_BD, TG_KT, </a:t>
            </a:r>
            <a:r>
              <a:rPr lang="en-US" sz="2670" i="true" u="sng">
                <a:solidFill>
                  <a:srgbClr val="1B1C54"/>
                </a:solidFill>
                <a:latin typeface="Be Vietnam Italics"/>
                <a:ea typeface="Be Vietnam Italics"/>
                <a:cs typeface="Be Vietnam Italics"/>
                <a:sym typeface="Be Vietnam Italics"/>
              </a:rPr>
              <a:t>Ma_Khoa</a:t>
            </a:r>
            <a:r>
              <a:rPr lang="en-US" sz="2670">
                <a:solidFill>
                  <a:srgbClr val="1B1C54"/>
                </a:solidFill>
                <a:latin typeface="Be Vietnam"/>
                <a:ea typeface="Be Vietnam"/>
                <a:cs typeface="Be Vietnam"/>
                <a:sym typeface="Be Vietnam"/>
              </a:rPr>
              <a:t>, </a:t>
            </a:r>
            <a:r>
              <a:rPr lang="en-US" sz="2670" i="true" u="sng">
                <a:solidFill>
                  <a:srgbClr val="1B1C54"/>
                </a:solidFill>
                <a:latin typeface="Be Vietnam Italics"/>
                <a:ea typeface="Be Vietnam Italics"/>
                <a:cs typeface="Be Vietnam Italics"/>
                <a:sym typeface="Be Vietnam Italics"/>
              </a:rPr>
              <a:t>Ma_GV</a:t>
            </a:r>
            <a:r>
              <a:rPr lang="en-US" sz="2670">
                <a:solidFill>
                  <a:srgbClr val="1B1C54"/>
                </a:solidFill>
                <a:latin typeface="Be Vietnam"/>
                <a:ea typeface="Be Vietnam"/>
                <a:cs typeface="Be Vietnam"/>
                <a:sym typeface="Be Vietnam"/>
              </a:rPr>
              <a:t>, </a:t>
            </a:r>
            <a:r>
              <a:rPr lang="en-US" sz="2670" i="true" u="sng">
                <a:solidFill>
                  <a:srgbClr val="1B1C54"/>
                </a:solidFill>
                <a:latin typeface="Be Vietnam Italics"/>
                <a:ea typeface="Be Vietnam Italics"/>
                <a:cs typeface="Be Vietnam Italics"/>
                <a:sym typeface="Be Vietnam Italics"/>
              </a:rPr>
              <a:t>Ma_CTDT</a:t>
            </a:r>
            <a:r>
              <a:rPr lang="en-US" sz="2670">
                <a:solidFill>
                  <a:srgbClr val="1B1C54"/>
                </a:solidFill>
                <a:latin typeface="Be Vietnam"/>
                <a:ea typeface="Be Vietnam"/>
                <a:cs typeface="Be Vietnam"/>
                <a:sym typeface="Be Vietnam"/>
              </a:rPr>
              <a:t>)</a:t>
            </a:r>
            <a:r>
              <a:rPr lang="en-US" b="true" sz="2670">
                <a:solidFill>
                  <a:srgbClr val="1B1C54"/>
                </a:solidFill>
                <a:latin typeface="Be Vietnam Ultra-Bold"/>
                <a:ea typeface="Be Vietnam Ultra-Bold"/>
                <a:cs typeface="Be Vietnam Ultra-Bold"/>
                <a:sym typeface="Be Vietnam Ultra-Bold"/>
              </a:rPr>
              <a:t>.</a:t>
            </a:r>
          </a:p>
          <a:p>
            <a:pPr algn="l" marL="576620" indent="-288310" lvl="1">
              <a:lnSpc>
                <a:spcPts val="4807"/>
              </a:lnSpc>
              <a:buFont typeface="Arial"/>
              <a:buChar char="•"/>
            </a:pPr>
            <a:r>
              <a:rPr lang="en-US" b="true" sz="2670">
                <a:solidFill>
                  <a:srgbClr val="1B1C54"/>
                </a:solidFill>
                <a:latin typeface="Be Vietnam Ultra-Bold"/>
                <a:ea typeface="Be Vietnam Ultra-Bold"/>
                <a:cs typeface="Be Vietnam Ultra-Bold"/>
                <a:sym typeface="Be Vietnam Ultra-Bold"/>
              </a:rPr>
              <a:t> 5. SINH_VIEN </a:t>
            </a:r>
            <a:r>
              <a:rPr lang="en-US" sz="2670">
                <a:solidFill>
                  <a:srgbClr val="1B1C54"/>
                </a:solidFill>
                <a:latin typeface="Be Vietnam"/>
                <a:ea typeface="Be Vietnam"/>
                <a:cs typeface="Be Vietnam"/>
                <a:sym typeface="Be Vietnam"/>
              </a:rPr>
              <a:t>(</a:t>
            </a:r>
            <a:r>
              <a:rPr lang="en-US" b="true" sz="2670" u="sng">
                <a:solidFill>
                  <a:srgbClr val="1B1C54"/>
                </a:solidFill>
                <a:latin typeface="Be Vietnam Ultra-Bold"/>
                <a:ea typeface="Be Vietnam Ultra-Bold"/>
                <a:cs typeface="Be Vietnam Ultra-Bold"/>
                <a:sym typeface="Be Vietnam Ultra-Bold"/>
              </a:rPr>
              <a:t>Ma_SV</a:t>
            </a:r>
            <a:r>
              <a:rPr lang="en-US" sz="2670">
                <a:solidFill>
                  <a:srgbClr val="1B1C54"/>
                </a:solidFill>
                <a:latin typeface="Be Vietnam"/>
                <a:ea typeface="Be Vietnam"/>
                <a:cs typeface="Be Vietnam"/>
                <a:sym typeface="Be Vietnam"/>
              </a:rPr>
              <a:t>, Ho_Ten_SV, Gioi_Tinh_SV, Ngay_Sinh_SV, Email_SV, Sdt_SV, Trang_Thai_SV, </a:t>
            </a:r>
            <a:r>
              <a:rPr lang="en-US" sz="2670" i="true" u="sng">
                <a:solidFill>
                  <a:srgbClr val="1B1C54"/>
                </a:solidFill>
                <a:latin typeface="Be Vietnam Italics"/>
                <a:ea typeface="Be Vietnam Italics"/>
                <a:cs typeface="Be Vietnam Italics"/>
                <a:sym typeface="Be Vietnam Italics"/>
              </a:rPr>
              <a:t>Ma_Lop</a:t>
            </a:r>
            <a:r>
              <a:rPr lang="en-US" sz="2670">
                <a:solidFill>
                  <a:srgbClr val="1B1C54"/>
                </a:solidFill>
                <a:latin typeface="Be Vietnam"/>
                <a:ea typeface="Be Vietnam"/>
                <a:cs typeface="Be Vietnam"/>
                <a:sym typeface="Be Vietnam"/>
              </a:rPr>
              <a:t>).</a:t>
            </a:r>
          </a:p>
          <a:p>
            <a:pPr algn="l" marL="576620" indent="-288310" lvl="1">
              <a:lnSpc>
                <a:spcPts val="4807"/>
              </a:lnSpc>
              <a:buFont typeface="Arial"/>
              <a:buChar char="•"/>
            </a:pPr>
            <a:r>
              <a:rPr lang="en-US" b="true" sz="2670">
                <a:solidFill>
                  <a:srgbClr val="1B1C54"/>
                </a:solidFill>
                <a:latin typeface="Be Vietnam Ultra-Bold"/>
                <a:ea typeface="Be Vietnam Ultra-Bold"/>
                <a:cs typeface="Be Vietnam Ultra-Bold"/>
                <a:sym typeface="Be Vietnam Ultra-Bold"/>
              </a:rPr>
              <a:t> 6. MON_HOC </a:t>
            </a:r>
            <a:r>
              <a:rPr lang="en-US" sz="2670">
                <a:solidFill>
                  <a:srgbClr val="1B1C54"/>
                </a:solidFill>
                <a:latin typeface="Be Vietnam"/>
                <a:ea typeface="Be Vietnam"/>
                <a:cs typeface="Be Vietnam"/>
                <a:sym typeface="Be Vietnam"/>
              </a:rPr>
              <a:t>(</a:t>
            </a:r>
            <a:r>
              <a:rPr lang="en-US" b="true" sz="2670" u="sng">
                <a:solidFill>
                  <a:srgbClr val="1B1C54"/>
                </a:solidFill>
                <a:latin typeface="Be Vietnam Ultra-Bold"/>
                <a:ea typeface="Be Vietnam Ultra-Bold"/>
                <a:cs typeface="Be Vietnam Ultra-Bold"/>
                <a:sym typeface="Be Vietnam Ultra-Bold"/>
              </a:rPr>
              <a:t>Ma_Mon</a:t>
            </a:r>
            <a:r>
              <a:rPr lang="en-US" sz="2670">
                <a:solidFill>
                  <a:srgbClr val="1B1C54"/>
                </a:solidFill>
                <a:latin typeface="Be Vietnam"/>
                <a:ea typeface="Be Vietnam"/>
                <a:cs typeface="Be Vietnam"/>
                <a:sym typeface="Be Vietnam"/>
              </a:rPr>
              <a:t>, Ten_Mon, So_Tin_Chi, Mo_Ta_MH).</a:t>
            </a:r>
          </a:p>
          <a:p>
            <a:pPr algn="l" marL="576620" indent="-288310" lvl="1">
              <a:lnSpc>
                <a:spcPts val="4807"/>
              </a:lnSpc>
              <a:buFont typeface="Arial"/>
              <a:buChar char="•"/>
            </a:pPr>
            <a:r>
              <a:rPr lang="en-US" b="true" sz="2670">
                <a:solidFill>
                  <a:srgbClr val="1B1C54"/>
                </a:solidFill>
                <a:latin typeface="Be Vietnam Ultra-Bold"/>
                <a:ea typeface="Be Vietnam Ultra-Bold"/>
                <a:cs typeface="Be Vietnam Ultra-Bold"/>
                <a:sym typeface="Be Vietnam Ultra-Bold"/>
              </a:rPr>
              <a:t> 7. MONHOC_THUOC_CT</a:t>
            </a:r>
            <a:r>
              <a:rPr lang="en-US" b="true" sz="2670">
                <a:solidFill>
                  <a:srgbClr val="1B1C54"/>
                </a:solidFill>
                <a:latin typeface="Be Vietnam Ultra-Bold"/>
                <a:ea typeface="Be Vietnam Ultra-Bold"/>
                <a:cs typeface="Be Vietnam Ultra-Bold"/>
                <a:sym typeface="Be Vietnam Ultra-Bold"/>
              </a:rPr>
              <a:t>DT </a:t>
            </a:r>
            <a:r>
              <a:rPr lang="en-US" sz="2670">
                <a:solidFill>
                  <a:srgbClr val="1B1C54"/>
                </a:solidFill>
                <a:latin typeface="Be Vietnam"/>
                <a:ea typeface="Be Vietnam"/>
                <a:cs typeface="Be Vietnam"/>
                <a:sym typeface="Be Vietnam"/>
              </a:rPr>
              <a:t>(</a:t>
            </a:r>
            <a:r>
              <a:rPr lang="en-US" b="true" sz="2670" u="sng">
                <a:solidFill>
                  <a:srgbClr val="1B1C54"/>
                </a:solidFill>
                <a:latin typeface="Be Vietnam Ultra-Bold"/>
                <a:ea typeface="Be Vietnam Ultra-Bold"/>
                <a:cs typeface="Be Vietnam Ultra-Bold"/>
                <a:sym typeface="Be Vietnam Ultra-Bold"/>
              </a:rPr>
              <a:t>Ma_Mon, Ma_CTDT</a:t>
            </a:r>
            <a:r>
              <a:rPr lang="en-US" sz="2670">
                <a:solidFill>
                  <a:srgbClr val="1B1C54"/>
                </a:solidFill>
                <a:latin typeface="Be Vietnam"/>
                <a:ea typeface="Be Vietnam"/>
                <a:cs typeface="Be Vietnam"/>
                <a:sym typeface="Be Vietnam"/>
              </a:rPr>
              <a:t>, Loai_Hoc_Phan).</a:t>
            </a:r>
          </a:p>
          <a:p>
            <a:pPr algn="l" marL="576620" indent="-288310" lvl="1">
              <a:lnSpc>
                <a:spcPts val="4807"/>
              </a:lnSpc>
              <a:buFont typeface="Arial"/>
              <a:buChar char="•"/>
            </a:pPr>
            <a:r>
              <a:rPr lang="en-US" b="true" sz="2670">
                <a:solidFill>
                  <a:srgbClr val="1B1C54"/>
                </a:solidFill>
                <a:latin typeface="Be Vietnam Ultra-Bold"/>
                <a:ea typeface="Be Vietnam Ultra-Bold"/>
                <a:cs typeface="Be Vietnam Ultra-Bold"/>
                <a:sym typeface="Be Vietnam Ultra-Bold"/>
              </a:rPr>
              <a:t> 8. KET_QUA_HOC_TAP </a:t>
            </a:r>
            <a:r>
              <a:rPr lang="en-US" sz="2670">
                <a:solidFill>
                  <a:srgbClr val="1B1C54"/>
                </a:solidFill>
                <a:latin typeface="Be Vietnam"/>
                <a:ea typeface="Be Vietnam"/>
                <a:cs typeface="Be Vietnam"/>
                <a:sym typeface="Be Vietnam"/>
              </a:rPr>
              <a:t>(</a:t>
            </a:r>
            <a:r>
              <a:rPr lang="en-US" b="true" sz="2670" u="sng">
                <a:solidFill>
                  <a:srgbClr val="1B1C54"/>
                </a:solidFill>
                <a:latin typeface="Be Vietnam Ultra-Bold"/>
                <a:ea typeface="Be Vietnam Ultra-Bold"/>
                <a:cs typeface="Be Vietnam Ultra-Bold"/>
                <a:sym typeface="Be Vietnam Ultra-Bold"/>
              </a:rPr>
              <a:t>Ma_SV, Ma_Mon, Ma_GV</a:t>
            </a:r>
            <a:r>
              <a:rPr lang="en-US" sz="2670">
                <a:solidFill>
                  <a:srgbClr val="1B1C54"/>
                </a:solidFill>
                <a:latin typeface="Be Vietnam"/>
                <a:ea typeface="Be Vietnam"/>
                <a:cs typeface="Be Vietnam"/>
                <a:sym typeface="Be Vietnam"/>
              </a:rPr>
              <a:t>, Diem_Tong_Ket, Lan_Thi, Hoc_Ky, Nam_Hoc).</a:t>
            </a:r>
          </a:p>
        </p:txBody>
      </p:sp>
      <p:sp>
        <p:nvSpPr>
          <p:cNvPr name="TextBox 8" id="8"/>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6/18</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AutoShape 4" id="4"/>
          <p:cNvSpPr/>
          <p:nvPr/>
        </p:nvSpPr>
        <p:spPr>
          <a:xfrm flipV="true">
            <a:off x="6998613" y="2773084"/>
            <a:ext cx="4033307" cy="0"/>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0">
            <a:off x="1455532" y="3050672"/>
            <a:ext cx="15376935" cy="7107266"/>
          </a:xfrm>
          <a:custGeom>
            <a:avLst/>
            <a:gdLst/>
            <a:ahLst/>
            <a:cxnLst/>
            <a:rect r="r" b="b" t="t" l="l"/>
            <a:pathLst>
              <a:path h="7107266" w="15376935">
                <a:moveTo>
                  <a:pt x="0" y="0"/>
                </a:moveTo>
                <a:lnTo>
                  <a:pt x="15376936" y="0"/>
                </a:lnTo>
                <a:lnTo>
                  <a:pt x="15376936" y="7107266"/>
                </a:lnTo>
                <a:lnTo>
                  <a:pt x="0" y="7107266"/>
                </a:lnTo>
                <a:lnTo>
                  <a:pt x="0" y="0"/>
                </a:lnTo>
                <a:close/>
              </a:path>
            </a:pathLst>
          </a:custGeom>
          <a:blipFill>
            <a:blip r:embed="rId5"/>
            <a:stretch>
              <a:fillRect l="0" t="0" r="0" b="0"/>
            </a:stretch>
          </a:blipFill>
        </p:spPr>
      </p:sp>
      <p:sp>
        <p:nvSpPr>
          <p:cNvPr name="TextBox 6" id="6"/>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7" id="7"/>
          <p:cNvSpPr txBox="true"/>
          <p:nvPr/>
        </p:nvSpPr>
        <p:spPr>
          <a:xfrm rot="0">
            <a:off x="5328018" y="1949394"/>
            <a:ext cx="7631965"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5. SƠ ĐỒ KIẾN TRÚC TỔNG THỂ</a:t>
            </a:r>
          </a:p>
        </p:txBody>
      </p:sp>
      <p:sp>
        <p:nvSpPr>
          <p:cNvPr name="TextBox 8" id="8"/>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7/18</a:t>
            </a:r>
          </a:p>
        </p:txBody>
      </p:sp>
    </p:spTree>
  </p:cSld>
  <p:clrMapOvr>
    <a:masterClrMapping/>
  </p:clrMapOvr>
  <p:transition spd="fast">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AutoShape 4" id="4"/>
          <p:cNvSpPr/>
          <p:nvPr/>
        </p:nvSpPr>
        <p:spPr>
          <a:xfrm>
            <a:off x="1803448" y="2659811"/>
            <a:ext cx="2296393" cy="0"/>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0">
            <a:off x="5031520" y="2659811"/>
            <a:ext cx="11989655" cy="7106887"/>
          </a:xfrm>
          <a:custGeom>
            <a:avLst/>
            <a:gdLst/>
            <a:ahLst/>
            <a:cxnLst/>
            <a:rect r="r" b="b" t="t" l="l"/>
            <a:pathLst>
              <a:path h="7106887" w="11989655">
                <a:moveTo>
                  <a:pt x="0" y="0"/>
                </a:moveTo>
                <a:lnTo>
                  <a:pt x="11989655" y="0"/>
                </a:lnTo>
                <a:lnTo>
                  <a:pt x="11989655" y="7106887"/>
                </a:lnTo>
                <a:lnTo>
                  <a:pt x="0" y="7106887"/>
                </a:lnTo>
                <a:lnTo>
                  <a:pt x="0" y="0"/>
                </a:lnTo>
                <a:close/>
              </a:path>
            </a:pathLst>
          </a:custGeom>
          <a:blipFill>
            <a:blip r:embed="rId5"/>
            <a:stretch>
              <a:fillRect l="0" t="0" r="0" b="-91846"/>
            </a:stretch>
          </a:blipFill>
          <a:ln w="19050" cap="sq">
            <a:solidFill>
              <a:srgbClr val="5E17EB"/>
            </a:solidFill>
            <a:prstDash val="solid"/>
            <a:miter/>
          </a:ln>
        </p:spPr>
      </p:sp>
      <p:sp>
        <p:nvSpPr>
          <p:cNvPr name="TextBox 6" id="6"/>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7" id="7"/>
          <p:cNvSpPr txBox="true"/>
          <p:nvPr/>
        </p:nvSpPr>
        <p:spPr>
          <a:xfrm rot="0">
            <a:off x="172407" y="1827960"/>
            <a:ext cx="6099061"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6. USECASE TỔNG QUÁT</a:t>
            </a:r>
          </a:p>
        </p:txBody>
      </p:sp>
      <p:sp>
        <p:nvSpPr>
          <p:cNvPr name="TextBox 8" id="8"/>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8/18</a:t>
            </a:r>
          </a:p>
        </p:txBody>
      </p:sp>
    </p:spTree>
  </p:cSld>
  <p:clrMapOvr>
    <a:masterClrMapping/>
  </p:clrMapOvr>
  <p:transition spd="fast">
    <p:push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AutoShape 4" id="4"/>
          <p:cNvSpPr/>
          <p:nvPr/>
        </p:nvSpPr>
        <p:spPr>
          <a:xfrm>
            <a:off x="1803448" y="2659811"/>
            <a:ext cx="2296393"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6" id="6"/>
          <p:cNvSpPr txBox="true"/>
          <p:nvPr/>
        </p:nvSpPr>
        <p:spPr>
          <a:xfrm rot="0">
            <a:off x="172407" y="1827960"/>
            <a:ext cx="6258057"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6. USECASE TỔNG QUÁT</a:t>
            </a:r>
          </a:p>
        </p:txBody>
      </p:sp>
      <p:sp>
        <p:nvSpPr>
          <p:cNvPr name="Freeform 7" id="7"/>
          <p:cNvSpPr/>
          <p:nvPr/>
        </p:nvSpPr>
        <p:spPr>
          <a:xfrm flipH="false" flipV="false" rot="0">
            <a:off x="4976949" y="2931592"/>
            <a:ext cx="12139476" cy="6613672"/>
          </a:xfrm>
          <a:custGeom>
            <a:avLst/>
            <a:gdLst/>
            <a:ahLst/>
            <a:cxnLst/>
            <a:rect r="r" b="b" t="t" l="l"/>
            <a:pathLst>
              <a:path h="6613672" w="12139476">
                <a:moveTo>
                  <a:pt x="0" y="0"/>
                </a:moveTo>
                <a:lnTo>
                  <a:pt x="12139476" y="0"/>
                </a:lnTo>
                <a:lnTo>
                  <a:pt x="12139476" y="6613672"/>
                </a:lnTo>
                <a:lnTo>
                  <a:pt x="0" y="6613672"/>
                </a:lnTo>
                <a:lnTo>
                  <a:pt x="0" y="0"/>
                </a:lnTo>
                <a:close/>
              </a:path>
            </a:pathLst>
          </a:custGeom>
          <a:blipFill>
            <a:blip r:embed="rId5"/>
            <a:stretch>
              <a:fillRect l="0" t="-108729" r="0" b="0"/>
            </a:stretch>
          </a:blipFill>
          <a:ln w="19050" cap="sq">
            <a:solidFill>
              <a:srgbClr val="5E17EB"/>
            </a:solidFill>
            <a:prstDash val="solid"/>
            <a:miter/>
          </a:ln>
        </p:spPr>
      </p:sp>
      <p:sp>
        <p:nvSpPr>
          <p:cNvPr name="TextBox 8" id="8"/>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9/18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AutoShape 4" id="4"/>
          <p:cNvSpPr/>
          <p:nvPr/>
        </p:nvSpPr>
        <p:spPr>
          <a:xfrm>
            <a:off x="6814761" y="2549917"/>
            <a:ext cx="4335604" cy="0"/>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0">
            <a:off x="1738456" y="2727692"/>
            <a:ext cx="14501523" cy="7381265"/>
          </a:xfrm>
          <a:custGeom>
            <a:avLst/>
            <a:gdLst/>
            <a:ahLst/>
            <a:cxnLst/>
            <a:rect r="r" b="b" t="t" l="l"/>
            <a:pathLst>
              <a:path h="7381265" w="14501523">
                <a:moveTo>
                  <a:pt x="0" y="0"/>
                </a:moveTo>
                <a:lnTo>
                  <a:pt x="14501522" y="0"/>
                </a:lnTo>
                <a:lnTo>
                  <a:pt x="14501522" y="7381265"/>
                </a:lnTo>
                <a:lnTo>
                  <a:pt x="0" y="7381265"/>
                </a:lnTo>
                <a:lnTo>
                  <a:pt x="0" y="0"/>
                </a:lnTo>
                <a:close/>
              </a:path>
            </a:pathLst>
          </a:custGeom>
          <a:blipFill>
            <a:blip r:embed="rId5"/>
            <a:stretch>
              <a:fillRect l="0" t="0" r="0" b="0"/>
            </a:stretch>
          </a:blipFill>
        </p:spPr>
      </p:sp>
      <p:sp>
        <p:nvSpPr>
          <p:cNvPr name="TextBox 6" id="6"/>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7" id="7"/>
          <p:cNvSpPr txBox="true"/>
          <p:nvPr/>
        </p:nvSpPr>
        <p:spPr>
          <a:xfrm rot="0">
            <a:off x="5248164" y="1775216"/>
            <a:ext cx="7912862"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7. BIỂU ĐỒ PHÂN RÃ CHỨC NĂNG</a:t>
            </a:r>
          </a:p>
        </p:txBody>
      </p:sp>
      <p:sp>
        <p:nvSpPr>
          <p:cNvPr name="TextBox 8" id="8"/>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10/18</a:t>
            </a:r>
          </a:p>
        </p:txBody>
      </p:sp>
    </p:spTree>
  </p:cSld>
  <p:clrMapOvr>
    <a:masterClrMapping/>
  </p:clrMapOvr>
  <p:transition spd="fast">
    <p:push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AutoShape 4" id="4"/>
          <p:cNvSpPr/>
          <p:nvPr/>
        </p:nvSpPr>
        <p:spPr>
          <a:xfrm flipV="true">
            <a:off x="6181632" y="2559948"/>
            <a:ext cx="5592854"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6" id="6"/>
          <p:cNvSpPr txBox="true"/>
          <p:nvPr/>
        </p:nvSpPr>
        <p:spPr>
          <a:xfrm rot="0">
            <a:off x="4919721" y="1775554"/>
            <a:ext cx="8458600"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8. TÍNH ĐIỂM KẾT THÚC HỌC PHẦN</a:t>
            </a:r>
          </a:p>
        </p:txBody>
      </p:sp>
      <p:sp>
        <p:nvSpPr>
          <p:cNvPr name="TextBox 7" id="7"/>
          <p:cNvSpPr txBox="true"/>
          <p:nvPr/>
        </p:nvSpPr>
        <p:spPr>
          <a:xfrm rot="0">
            <a:off x="3540499" y="3011791"/>
            <a:ext cx="12887828" cy="6713545"/>
          </a:xfrm>
          <a:prstGeom prst="rect">
            <a:avLst/>
          </a:prstGeom>
        </p:spPr>
        <p:txBody>
          <a:bodyPr anchor="t" rtlCol="false" tIns="0" lIns="0" bIns="0" rIns="0">
            <a:spAutoFit/>
          </a:bodyPr>
          <a:lstStyle/>
          <a:p>
            <a:pPr algn="l">
              <a:lnSpc>
                <a:spcPts val="7687"/>
              </a:lnSpc>
            </a:pPr>
            <a:r>
              <a:rPr lang="en-US" sz="4270">
                <a:solidFill>
                  <a:srgbClr val="1B1C54"/>
                </a:solidFill>
                <a:latin typeface="Be Vietnam"/>
                <a:ea typeface="Be Vietnam"/>
                <a:cs typeface="Be Vietnam"/>
                <a:sym typeface="Be Vietnam"/>
              </a:rPr>
              <a:t>Công t</a:t>
            </a:r>
            <a:r>
              <a:rPr lang="en-US" sz="4270" u="none">
                <a:solidFill>
                  <a:srgbClr val="1B1C54"/>
                </a:solidFill>
                <a:latin typeface="Be Vietnam"/>
                <a:ea typeface="Be Vietnam"/>
                <a:cs typeface="Be Vietnam"/>
                <a:sym typeface="Be Vietnam"/>
              </a:rPr>
              <a:t>h</a:t>
            </a:r>
            <a:r>
              <a:rPr lang="en-US" sz="4270">
                <a:solidFill>
                  <a:srgbClr val="1B1C54"/>
                </a:solidFill>
                <a:latin typeface="Be Vietnam"/>
                <a:ea typeface="Be Vietnam"/>
                <a:cs typeface="Be Vietnam"/>
                <a:sym typeface="Be Vietnam"/>
              </a:rPr>
              <a:t>ức tính điểm tổng kết:</a:t>
            </a:r>
          </a:p>
          <a:p>
            <a:pPr algn="l">
              <a:lnSpc>
                <a:spcPts val="7687"/>
              </a:lnSpc>
            </a:pPr>
            <a:r>
              <a:rPr lang="en-US" sz="4270">
                <a:solidFill>
                  <a:srgbClr val="1B1C54"/>
                </a:solidFill>
                <a:latin typeface="Be Vietnam"/>
                <a:ea typeface="Be Vietnam"/>
                <a:cs typeface="Be Vietnam"/>
                <a:sym typeface="Be Vietnam"/>
              </a:rPr>
              <a:t>              </a:t>
            </a:r>
            <a:r>
              <a:rPr lang="en-US" sz="4270" b="true">
                <a:solidFill>
                  <a:srgbClr val="1B1C54"/>
                </a:solidFill>
                <a:latin typeface="Be Vietnam Ultra-Bold"/>
                <a:ea typeface="Be Vietnam Ultra-Bold"/>
                <a:cs typeface="Be Vietnam Ultra-Bold"/>
                <a:sym typeface="Be Vietnam Ultra-Bold"/>
              </a:rPr>
              <a:t>Đ</a:t>
            </a:r>
            <a:r>
              <a:rPr lang="en-US" sz="4270" b="true">
                <a:solidFill>
                  <a:srgbClr val="1B1C54"/>
                </a:solidFill>
                <a:latin typeface="Be Vietnam Ultra-Bold"/>
                <a:ea typeface="Be Vietnam Ultra-Bold"/>
                <a:cs typeface="Be Vietnam Ultra-Bold"/>
                <a:sym typeface="Be Vietnam Ultra-Bold"/>
              </a:rPr>
              <a:t>TgK = (Đ</a:t>
            </a:r>
            <a:r>
              <a:rPr lang="en-US" sz="4270" u="none" b="true">
                <a:solidFill>
                  <a:srgbClr val="1B1C54"/>
                </a:solidFill>
                <a:latin typeface="Be Vietnam Ultra-Bold"/>
                <a:ea typeface="Be Vietnam Ultra-Bold"/>
                <a:cs typeface="Be Vietnam Ultra-Bold"/>
                <a:sym typeface="Be Vietnam Ultra-Bold"/>
              </a:rPr>
              <a:t>T</a:t>
            </a:r>
            <a:r>
              <a:rPr lang="en-US" sz="4270" b="true">
                <a:solidFill>
                  <a:srgbClr val="1B1C54"/>
                </a:solidFill>
                <a:latin typeface="Be Vietnam Ultra-Bold"/>
                <a:ea typeface="Be Vietnam Ultra-Bold"/>
                <a:cs typeface="Be Vietnam Ultra-Bold"/>
                <a:sym typeface="Be Vietnam Ultra-Bold"/>
              </a:rPr>
              <a:t>BQ</a:t>
            </a:r>
            <a:r>
              <a:rPr lang="en-US" sz="4270" u="none" b="true">
                <a:solidFill>
                  <a:srgbClr val="1B1C54"/>
                </a:solidFill>
                <a:latin typeface="Be Vietnam Ultra-Bold"/>
                <a:ea typeface="Be Vietnam Ultra-Bold"/>
                <a:cs typeface="Be Vietnam Ultra-Bold"/>
                <a:sym typeface="Be Vietnam Ultra-Bold"/>
              </a:rPr>
              <a:t>T</a:t>
            </a:r>
            <a:r>
              <a:rPr lang="en-US" sz="4270" b="true">
                <a:solidFill>
                  <a:srgbClr val="1B1C54"/>
                </a:solidFill>
                <a:latin typeface="Be Vietnam Ultra-Bold"/>
                <a:ea typeface="Be Vietnam Ultra-Bold"/>
                <a:cs typeface="Be Vietnam Ultra-Bold"/>
                <a:sym typeface="Be Vietnam Ultra-Bold"/>
              </a:rPr>
              <a:t> + ĐKT)/2</a:t>
            </a:r>
            <a:r>
              <a:rPr lang="en-US" sz="4270">
                <a:solidFill>
                  <a:srgbClr val="1B1C54"/>
                </a:solidFill>
                <a:latin typeface="Be Vietnam"/>
                <a:ea typeface="Be Vietnam"/>
                <a:cs typeface="Be Vietnam"/>
                <a:sym typeface="Be Vietnam"/>
              </a:rPr>
              <a:t> </a:t>
            </a:r>
          </a:p>
          <a:p>
            <a:pPr algn="l">
              <a:lnSpc>
                <a:spcPts val="7687"/>
              </a:lnSpc>
            </a:pPr>
            <a:r>
              <a:rPr lang="en-US" sz="4270">
                <a:solidFill>
                  <a:srgbClr val="1B1C54"/>
                </a:solidFill>
                <a:latin typeface="Be Vietnam"/>
                <a:ea typeface="Be Vietnam"/>
                <a:cs typeface="Be Vietnam"/>
                <a:sym typeface="Be Vietnam"/>
              </a:rPr>
              <a:t>Trong đó: </a:t>
            </a:r>
          </a:p>
          <a:p>
            <a:pPr algn="l">
              <a:lnSpc>
                <a:spcPts val="7687"/>
              </a:lnSpc>
            </a:pPr>
            <a:r>
              <a:rPr lang="en-US" sz="4270">
                <a:solidFill>
                  <a:srgbClr val="1B1C54"/>
                </a:solidFill>
                <a:latin typeface="Be Vietnam"/>
                <a:ea typeface="Be Vietnam"/>
                <a:cs typeface="Be Vietnam"/>
                <a:sym typeface="Be Vietnam"/>
              </a:rPr>
              <a:t>           </a:t>
            </a:r>
            <a:r>
              <a:rPr lang="en-US" sz="4270" b="true">
                <a:solidFill>
                  <a:srgbClr val="1B1C54"/>
                </a:solidFill>
                <a:latin typeface="Be Vietnam Ultra-Bold"/>
                <a:ea typeface="Be Vietnam Ultra-Bold"/>
                <a:cs typeface="Be Vietnam Ultra-Bold"/>
                <a:sym typeface="Be Vietnam Ultra-Bold"/>
              </a:rPr>
              <a:t> ĐTgK</a:t>
            </a:r>
            <a:r>
              <a:rPr lang="en-US" sz="4270">
                <a:solidFill>
                  <a:srgbClr val="1B1C54"/>
                </a:solidFill>
                <a:latin typeface="Be Vietnam"/>
                <a:ea typeface="Be Vietnam"/>
                <a:cs typeface="Be Vietnam"/>
                <a:sym typeface="Be Vietnam"/>
              </a:rPr>
              <a:t>: điểm tổng kết học p</a:t>
            </a:r>
            <a:r>
              <a:rPr lang="en-US" sz="4270" u="none">
                <a:solidFill>
                  <a:srgbClr val="1B1C54"/>
                </a:solidFill>
                <a:latin typeface="Be Vietnam"/>
                <a:ea typeface="Be Vietnam"/>
                <a:cs typeface="Be Vietnam"/>
                <a:sym typeface="Be Vietnam"/>
              </a:rPr>
              <a:t>h</a:t>
            </a:r>
            <a:r>
              <a:rPr lang="en-US" sz="4270">
                <a:solidFill>
                  <a:srgbClr val="1B1C54"/>
                </a:solidFill>
                <a:latin typeface="Be Vietnam"/>
                <a:ea typeface="Be Vietnam"/>
                <a:cs typeface="Be Vietnam"/>
                <a:sym typeface="Be Vietnam"/>
              </a:rPr>
              <a:t>ần.</a:t>
            </a:r>
          </a:p>
          <a:p>
            <a:pPr algn="l">
              <a:lnSpc>
                <a:spcPts val="7687"/>
              </a:lnSpc>
            </a:pPr>
            <a:r>
              <a:rPr lang="en-US" sz="4270">
                <a:solidFill>
                  <a:srgbClr val="1B1C54"/>
                </a:solidFill>
                <a:latin typeface="Be Vietnam"/>
                <a:ea typeface="Be Vietnam"/>
                <a:cs typeface="Be Vietnam"/>
                <a:sym typeface="Be Vietnam"/>
              </a:rPr>
              <a:t>            </a:t>
            </a:r>
            <a:r>
              <a:rPr lang="en-US" sz="4270" b="true">
                <a:solidFill>
                  <a:srgbClr val="1B1C54"/>
                </a:solidFill>
                <a:latin typeface="Be Vietnam Ultra-Bold"/>
                <a:ea typeface="Be Vietnam Ultra-Bold"/>
                <a:cs typeface="Be Vietnam Ultra-Bold"/>
                <a:sym typeface="Be Vietnam Ultra-Bold"/>
              </a:rPr>
              <a:t>ĐTBQT</a:t>
            </a:r>
            <a:r>
              <a:rPr lang="en-US" sz="4270">
                <a:solidFill>
                  <a:srgbClr val="1B1C54"/>
                </a:solidFill>
                <a:latin typeface="Be Vietnam"/>
                <a:ea typeface="Be Vietnam"/>
                <a:cs typeface="Be Vietnam"/>
                <a:sym typeface="Be Vietnam"/>
              </a:rPr>
              <a:t>: điểm trung bình quá</a:t>
            </a:r>
            <a:r>
              <a:rPr lang="en-US" sz="4270">
                <a:solidFill>
                  <a:srgbClr val="1B1C54"/>
                </a:solidFill>
                <a:latin typeface="Be Vietnam"/>
                <a:ea typeface="Be Vietnam"/>
                <a:cs typeface="Be Vietnam"/>
                <a:sym typeface="Be Vietnam"/>
              </a:rPr>
              <a:t> trì</a:t>
            </a:r>
            <a:r>
              <a:rPr lang="en-US" sz="4270" u="none">
                <a:solidFill>
                  <a:srgbClr val="1B1C54"/>
                </a:solidFill>
                <a:latin typeface="Be Vietnam"/>
                <a:ea typeface="Be Vietnam"/>
                <a:cs typeface="Be Vietnam"/>
                <a:sym typeface="Be Vietnam"/>
              </a:rPr>
              <a:t>n</a:t>
            </a:r>
            <a:r>
              <a:rPr lang="en-US" sz="4270">
                <a:solidFill>
                  <a:srgbClr val="1B1C54"/>
                </a:solidFill>
                <a:latin typeface="Be Vietnam"/>
                <a:ea typeface="Be Vietnam"/>
                <a:cs typeface="Be Vietnam"/>
                <a:sym typeface="Be Vietnam"/>
              </a:rPr>
              <a:t>h.</a:t>
            </a:r>
          </a:p>
          <a:p>
            <a:pPr algn="l">
              <a:lnSpc>
                <a:spcPts val="7687"/>
              </a:lnSpc>
            </a:pPr>
            <a:r>
              <a:rPr lang="en-US" sz="4270">
                <a:solidFill>
                  <a:srgbClr val="1B1C54"/>
                </a:solidFill>
                <a:latin typeface="Be Vietnam"/>
                <a:ea typeface="Be Vietnam"/>
                <a:cs typeface="Be Vietnam"/>
                <a:sym typeface="Be Vietnam"/>
              </a:rPr>
              <a:t>            </a:t>
            </a:r>
            <a:r>
              <a:rPr lang="en-US" sz="4270" b="true">
                <a:solidFill>
                  <a:srgbClr val="1B1C54"/>
                </a:solidFill>
                <a:latin typeface="Be Vietnam Ultra-Bold"/>
                <a:ea typeface="Be Vietnam Ultra-Bold"/>
                <a:cs typeface="Be Vietnam Ultra-Bold"/>
                <a:sym typeface="Be Vietnam Ultra-Bold"/>
              </a:rPr>
              <a:t>ĐKT</a:t>
            </a:r>
            <a:r>
              <a:rPr lang="en-US" sz="4270">
                <a:solidFill>
                  <a:srgbClr val="1B1C54"/>
                </a:solidFill>
                <a:latin typeface="Be Vietnam"/>
                <a:ea typeface="Be Vietnam"/>
                <a:cs typeface="Be Vietnam"/>
                <a:sym typeface="Be Vietnam"/>
              </a:rPr>
              <a:t>: điểm đánh giá kết thúc.</a:t>
            </a:r>
          </a:p>
          <a:p>
            <a:pPr algn="l">
              <a:lnSpc>
                <a:spcPts val="7687"/>
              </a:lnSpc>
            </a:pPr>
          </a:p>
        </p:txBody>
      </p:sp>
      <p:sp>
        <p:nvSpPr>
          <p:cNvPr name="TextBox 8" id="8"/>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11/18</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AutoShape 4" id="4"/>
          <p:cNvSpPr/>
          <p:nvPr/>
        </p:nvSpPr>
        <p:spPr>
          <a:xfrm>
            <a:off x="6814761" y="2549917"/>
            <a:ext cx="4335604"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1419747" y="2742270"/>
            <a:ext cx="15343436" cy="7136455"/>
          </a:xfrm>
          <a:prstGeom prst="rect">
            <a:avLst/>
          </a:prstGeom>
        </p:spPr>
        <p:txBody>
          <a:bodyPr anchor="t" rtlCol="false" tIns="0" lIns="0" bIns="0" rIns="0">
            <a:spAutoFit/>
          </a:bodyPr>
          <a:lstStyle/>
          <a:p>
            <a:pPr algn="l">
              <a:lnSpc>
                <a:spcPts val="7147"/>
              </a:lnSpc>
            </a:pPr>
            <a:r>
              <a:rPr lang="en-US" sz="3970">
                <a:solidFill>
                  <a:srgbClr val="1B1C54"/>
                </a:solidFill>
                <a:latin typeface="Be Vietnam"/>
                <a:ea typeface="Be Vietnam"/>
                <a:cs typeface="Be Vietnam"/>
                <a:sym typeface="Be Vietnam"/>
              </a:rPr>
              <a:t>ĐTBCHK và ĐTBCTL được tính theo công t</a:t>
            </a:r>
            <a:r>
              <a:rPr lang="en-US" sz="3970" u="none">
                <a:solidFill>
                  <a:srgbClr val="1B1C54"/>
                </a:solidFill>
                <a:latin typeface="Be Vietnam"/>
                <a:ea typeface="Be Vietnam"/>
                <a:cs typeface="Be Vietnam"/>
                <a:sym typeface="Be Vietnam"/>
              </a:rPr>
              <a:t>h</a:t>
            </a:r>
            <a:r>
              <a:rPr lang="en-US" sz="3970">
                <a:solidFill>
                  <a:srgbClr val="1B1C54"/>
                </a:solidFill>
                <a:latin typeface="Be Vietnam"/>
                <a:ea typeface="Be Vietnam"/>
                <a:cs typeface="Be Vietnam"/>
                <a:sym typeface="Be Vietnam"/>
              </a:rPr>
              <a:t>ức tính như sau:</a:t>
            </a:r>
          </a:p>
          <a:p>
            <a:pPr algn="l">
              <a:lnSpc>
                <a:spcPts val="7147"/>
              </a:lnSpc>
            </a:pPr>
          </a:p>
          <a:p>
            <a:pPr algn="l">
              <a:lnSpc>
                <a:spcPts val="7147"/>
              </a:lnSpc>
            </a:pPr>
            <a:r>
              <a:rPr lang="en-US" sz="3970">
                <a:solidFill>
                  <a:srgbClr val="1B1C54"/>
                </a:solidFill>
                <a:latin typeface="Be Vietnam"/>
                <a:ea typeface="Be Vietnam"/>
                <a:cs typeface="Be Vietnam"/>
                <a:sym typeface="Be Vietnam"/>
              </a:rPr>
              <a:t>Trong đó: </a:t>
            </a:r>
          </a:p>
          <a:p>
            <a:pPr algn="l">
              <a:lnSpc>
                <a:spcPts val="7147"/>
              </a:lnSpc>
            </a:pPr>
            <a:r>
              <a:rPr lang="en-US" sz="3970">
                <a:solidFill>
                  <a:srgbClr val="1B1C54"/>
                </a:solidFill>
                <a:latin typeface="Be Vietnam"/>
                <a:ea typeface="Be Vietnam"/>
                <a:cs typeface="Be Vietnam"/>
                <a:sym typeface="Be Vietnam"/>
              </a:rPr>
              <a:t>- A là</a:t>
            </a:r>
            <a:r>
              <a:rPr lang="en-US" sz="3970">
                <a:solidFill>
                  <a:srgbClr val="1B1C54"/>
                </a:solidFill>
                <a:latin typeface="Be Vietnam"/>
                <a:ea typeface="Be Vietnam"/>
                <a:cs typeface="Be Vietnam"/>
                <a:sym typeface="Be Vietnam"/>
              </a:rPr>
              <a:t> ĐT</a:t>
            </a:r>
            <a:r>
              <a:rPr lang="en-US" sz="3970">
                <a:solidFill>
                  <a:srgbClr val="1B1C54"/>
                </a:solidFill>
                <a:latin typeface="Be Vietnam"/>
                <a:ea typeface="Be Vietnam"/>
                <a:cs typeface="Be Vietnam"/>
                <a:sym typeface="Be Vietnam"/>
              </a:rPr>
              <a:t>BCH</a:t>
            </a:r>
            <a:r>
              <a:rPr lang="en-US" sz="3970">
                <a:solidFill>
                  <a:srgbClr val="1B1C54"/>
                </a:solidFill>
                <a:latin typeface="Be Vietnam"/>
                <a:ea typeface="Be Vietnam"/>
                <a:cs typeface="Be Vietnam"/>
                <a:sym typeface="Be Vietnam"/>
              </a:rPr>
              <a:t>K</a:t>
            </a:r>
            <a:r>
              <a:rPr lang="en-US" sz="3970">
                <a:solidFill>
                  <a:srgbClr val="1B1C54"/>
                </a:solidFill>
                <a:latin typeface="Be Vietnam"/>
                <a:ea typeface="Be Vietnam"/>
                <a:cs typeface="Be Vietnam"/>
                <a:sym typeface="Be Vietnam"/>
              </a:rPr>
              <a:t> hoặc </a:t>
            </a:r>
            <a:r>
              <a:rPr lang="en-US" sz="3970">
                <a:solidFill>
                  <a:srgbClr val="1B1C54"/>
                </a:solidFill>
                <a:latin typeface="Be Vietnam"/>
                <a:ea typeface="Be Vietnam"/>
                <a:cs typeface="Be Vietnam"/>
                <a:sym typeface="Be Vietnam"/>
              </a:rPr>
              <a:t>ĐTB</a:t>
            </a:r>
            <a:r>
              <a:rPr lang="en-US" sz="3970">
                <a:solidFill>
                  <a:srgbClr val="1B1C54"/>
                </a:solidFill>
                <a:latin typeface="Be Vietnam"/>
                <a:ea typeface="Be Vietnam"/>
                <a:cs typeface="Be Vietnam"/>
                <a:sym typeface="Be Vietnam"/>
              </a:rPr>
              <a:t>C</a:t>
            </a:r>
            <a:r>
              <a:rPr lang="en-US" sz="3970">
                <a:solidFill>
                  <a:srgbClr val="1B1C54"/>
                </a:solidFill>
                <a:latin typeface="Be Vietnam"/>
                <a:ea typeface="Be Vietnam"/>
                <a:cs typeface="Be Vietnam"/>
                <a:sym typeface="Be Vietnam"/>
              </a:rPr>
              <a:t>T</a:t>
            </a:r>
            <a:r>
              <a:rPr lang="en-US" sz="3970">
                <a:solidFill>
                  <a:srgbClr val="1B1C54"/>
                </a:solidFill>
                <a:latin typeface="Be Vietnam"/>
                <a:ea typeface="Be Vietnam"/>
                <a:cs typeface="Be Vietnam"/>
                <a:sym typeface="Be Vietnam"/>
              </a:rPr>
              <a:t>L.</a:t>
            </a:r>
          </a:p>
          <a:p>
            <a:pPr algn="l">
              <a:lnSpc>
                <a:spcPts val="6967"/>
              </a:lnSpc>
            </a:pPr>
            <a:r>
              <a:rPr lang="en-US" sz="3870">
                <a:solidFill>
                  <a:srgbClr val="1B1C54"/>
                </a:solidFill>
                <a:latin typeface="Be Vietnam"/>
                <a:ea typeface="Be Vietnam"/>
                <a:cs typeface="Be Vietnam"/>
                <a:sym typeface="Be Vietnam"/>
              </a:rPr>
              <a:t>-     là điểm của học phần</a:t>
            </a:r>
            <a:r>
              <a:rPr lang="en-US" sz="3870">
                <a:solidFill>
                  <a:srgbClr val="1B1C54"/>
                </a:solidFill>
                <a:latin typeface="Be Vietnam"/>
                <a:ea typeface="Be Vietnam"/>
                <a:cs typeface="Be Vietnam"/>
                <a:sym typeface="Be Vietnam"/>
              </a:rPr>
              <a:t> t</a:t>
            </a:r>
            <a:r>
              <a:rPr lang="en-US" sz="3870">
                <a:solidFill>
                  <a:srgbClr val="1B1C54"/>
                </a:solidFill>
                <a:latin typeface="Be Vietnam"/>
                <a:ea typeface="Be Vietnam"/>
                <a:cs typeface="Be Vietnam"/>
                <a:sym typeface="Be Vietnam"/>
              </a:rPr>
              <a:t>hứ i.</a:t>
            </a:r>
          </a:p>
          <a:p>
            <a:pPr algn="l">
              <a:lnSpc>
                <a:spcPts val="7147"/>
              </a:lnSpc>
            </a:pPr>
            <a:r>
              <a:rPr lang="en-US" sz="3970">
                <a:solidFill>
                  <a:srgbClr val="1B1C54"/>
                </a:solidFill>
                <a:latin typeface="Be Vietnam"/>
                <a:ea typeface="Be Vietnam"/>
                <a:cs typeface="Be Vietnam"/>
                <a:sym typeface="Be Vietnam"/>
              </a:rPr>
              <a:t>-     là số tín chỉ của học phần thứ i.</a:t>
            </a:r>
          </a:p>
          <a:p>
            <a:pPr algn="l">
              <a:lnSpc>
                <a:spcPts val="7147"/>
              </a:lnSpc>
            </a:pPr>
            <a:r>
              <a:rPr lang="en-US" sz="3970">
                <a:solidFill>
                  <a:srgbClr val="1B1C54"/>
                </a:solidFill>
                <a:latin typeface="Be Vietnam"/>
                <a:ea typeface="Be Vietnam"/>
                <a:cs typeface="Be Vietnam"/>
                <a:sym typeface="Be Vietnam"/>
              </a:rPr>
              <a:t>- n là tổng số học phần.</a:t>
            </a:r>
          </a:p>
          <a:p>
            <a:pPr algn="l">
              <a:lnSpc>
                <a:spcPts val="7147"/>
              </a:lnSpc>
            </a:pPr>
          </a:p>
        </p:txBody>
      </p:sp>
      <p:sp>
        <p:nvSpPr>
          <p:cNvPr name="Freeform 6" id="6"/>
          <p:cNvSpPr/>
          <p:nvPr/>
        </p:nvSpPr>
        <p:spPr>
          <a:xfrm flipH="false" flipV="false" rot="0">
            <a:off x="9828612" y="4220766"/>
            <a:ext cx="4645820" cy="2519142"/>
          </a:xfrm>
          <a:custGeom>
            <a:avLst/>
            <a:gdLst/>
            <a:ahLst/>
            <a:cxnLst/>
            <a:rect r="r" b="b" t="t" l="l"/>
            <a:pathLst>
              <a:path h="2519142" w="4645820">
                <a:moveTo>
                  <a:pt x="0" y="0"/>
                </a:moveTo>
                <a:lnTo>
                  <a:pt x="4645821" y="0"/>
                </a:lnTo>
                <a:lnTo>
                  <a:pt x="4645821" y="2519141"/>
                </a:lnTo>
                <a:lnTo>
                  <a:pt x="0" y="2519141"/>
                </a:lnTo>
                <a:lnTo>
                  <a:pt x="0" y="0"/>
                </a:lnTo>
                <a:close/>
              </a:path>
            </a:pathLst>
          </a:custGeom>
          <a:blipFill>
            <a:blip r:embed="rId5"/>
            <a:stretch>
              <a:fillRect l="0" t="0" r="0" b="0"/>
            </a:stretch>
          </a:blipFill>
          <a:ln w="19050" cap="sq">
            <a:solidFill>
              <a:srgbClr val="5E17EB"/>
            </a:solidFill>
            <a:prstDash val="solid"/>
            <a:miter/>
          </a:ln>
        </p:spPr>
      </p:sp>
      <p:sp>
        <p:nvSpPr>
          <p:cNvPr name="Freeform 7" id="7"/>
          <p:cNvSpPr/>
          <p:nvPr/>
        </p:nvSpPr>
        <p:spPr>
          <a:xfrm flipH="false" flipV="false" rot="0">
            <a:off x="1680381" y="6658248"/>
            <a:ext cx="613018" cy="1455917"/>
          </a:xfrm>
          <a:custGeom>
            <a:avLst/>
            <a:gdLst/>
            <a:ahLst/>
            <a:cxnLst/>
            <a:rect r="r" b="b" t="t" l="l"/>
            <a:pathLst>
              <a:path h="1455917" w="613018">
                <a:moveTo>
                  <a:pt x="0" y="0"/>
                </a:moveTo>
                <a:lnTo>
                  <a:pt x="613018" y="0"/>
                </a:lnTo>
                <a:lnTo>
                  <a:pt x="613018" y="1455917"/>
                </a:lnTo>
                <a:lnTo>
                  <a:pt x="0" y="1455917"/>
                </a:lnTo>
                <a:lnTo>
                  <a:pt x="0" y="0"/>
                </a:lnTo>
                <a:close/>
              </a:path>
            </a:pathLst>
          </a:custGeom>
          <a:blipFill>
            <a:blip r:embed="rId6"/>
            <a:stretch>
              <a:fillRect l="0" t="0" r="0" b="0"/>
            </a:stretch>
          </a:blipFill>
        </p:spPr>
      </p:sp>
      <p:sp>
        <p:nvSpPr>
          <p:cNvPr name="TextBox 8" id="8"/>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9" id="9"/>
          <p:cNvSpPr txBox="true"/>
          <p:nvPr/>
        </p:nvSpPr>
        <p:spPr>
          <a:xfrm rot="0">
            <a:off x="5565422" y="1775216"/>
            <a:ext cx="6847590"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9. TÍNH ĐTBCHK VÀ ĐTBCTL</a:t>
            </a:r>
          </a:p>
        </p:txBody>
      </p:sp>
      <p:sp>
        <p:nvSpPr>
          <p:cNvPr name="TextBox 10" id="10"/>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12/18</a:t>
            </a:r>
          </a:p>
        </p:txBody>
      </p:sp>
    </p:spTree>
  </p:cSld>
  <p:clrMapOvr>
    <a:masterClrMapping/>
  </p:clrMapOvr>
  <p:transition spd="fast">
    <p:push dir="l"/>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AutoShape 4" id="4"/>
          <p:cNvSpPr/>
          <p:nvPr/>
        </p:nvSpPr>
        <p:spPr>
          <a:xfrm>
            <a:off x="6546629" y="2559948"/>
            <a:ext cx="4912640" cy="0"/>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0">
            <a:off x="2826128" y="2849376"/>
            <a:ext cx="12635744" cy="7308562"/>
          </a:xfrm>
          <a:custGeom>
            <a:avLst/>
            <a:gdLst/>
            <a:ahLst/>
            <a:cxnLst/>
            <a:rect r="r" b="b" t="t" l="l"/>
            <a:pathLst>
              <a:path h="7308562" w="12635744">
                <a:moveTo>
                  <a:pt x="0" y="0"/>
                </a:moveTo>
                <a:lnTo>
                  <a:pt x="12635744" y="0"/>
                </a:lnTo>
                <a:lnTo>
                  <a:pt x="12635744" y="7308562"/>
                </a:lnTo>
                <a:lnTo>
                  <a:pt x="0" y="7308562"/>
                </a:lnTo>
                <a:lnTo>
                  <a:pt x="0" y="0"/>
                </a:lnTo>
                <a:close/>
              </a:path>
            </a:pathLst>
          </a:custGeom>
          <a:blipFill>
            <a:blip r:embed="rId5"/>
            <a:stretch>
              <a:fillRect l="0" t="0" r="0" b="0"/>
            </a:stretch>
          </a:blipFill>
        </p:spPr>
      </p:sp>
      <p:sp>
        <p:nvSpPr>
          <p:cNvPr name="TextBox 6" id="6"/>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7" id="7"/>
          <p:cNvSpPr txBox="true"/>
          <p:nvPr/>
        </p:nvSpPr>
        <p:spPr>
          <a:xfrm rot="0">
            <a:off x="5093808" y="1775554"/>
            <a:ext cx="7790818"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10. BẢNG QUY ĐỔI ĐIỂM HỆ 4</a:t>
            </a:r>
          </a:p>
        </p:txBody>
      </p:sp>
      <p:sp>
        <p:nvSpPr>
          <p:cNvPr name="TextBox 8" id="8"/>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13/18</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AutoShape 4" id="4"/>
          <p:cNvSpPr/>
          <p:nvPr/>
        </p:nvSpPr>
        <p:spPr>
          <a:xfrm>
            <a:off x="6814761" y="2616592"/>
            <a:ext cx="4335604"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1085132" y="2683822"/>
            <a:ext cx="16117736" cy="6707828"/>
          </a:xfrm>
          <a:prstGeom prst="rect">
            <a:avLst/>
          </a:prstGeom>
        </p:spPr>
        <p:txBody>
          <a:bodyPr anchor="t" rtlCol="false" tIns="0" lIns="0" bIns="0" rIns="0">
            <a:spAutoFit/>
          </a:bodyPr>
          <a:lstStyle/>
          <a:p>
            <a:pPr algn="l">
              <a:lnSpc>
                <a:spcPts val="5347"/>
              </a:lnSpc>
            </a:pPr>
            <a:r>
              <a:rPr lang="en-US" sz="2970">
                <a:solidFill>
                  <a:srgbClr val="1B1C54"/>
                </a:solidFill>
                <a:latin typeface="Be Vietnam"/>
                <a:ea typeface="Be Vietnam"/>
                <a:cs typeface="Be Vietnam"/>
                <a:sym typeface="Be Vietnam"/>
              </a:rPr>
              <a:t>Một sinh viên sẽ bị cảnh báo học vụ nếu vi phạm ít nhất một trong các điều kiện sau:</a:t>
            </a:r>
          </a:p>
          <a:p>
            <a:pPr algn="l">
              <a:lnSpc>
                <a:spcPts val="5347"/>
              </a:lnSpc>
            </a:pPr>
            <a:r>
              <a:rPr lang="en-US" sz="2970">
                <a:solidFill>
                  <a:srgbClr val="1B1C54"/>
                </a:solidFill>
                <a:latin typeface="Be Vietnam"/>
                <a:ea typeface="Be Vietnam"/>
                <a:cs typeface="Be Vietnam"/>
                <a:sym typeface="Be Vietnam"/>
              </a:rPr>
              <a:t>1) Tổng số tín chỉ không đạt trong HK vượt quá 50% khối lượng</a:t>
            </a:r>
            <a:r>
              <a:rPr lang="en-US" sz="2970">
                <a:solidFill>
                  <a:srgbClr val="1B1C54"/>
                </a:solidFill>
                <a:latin typeface="Be Vietnam"/>
                <a:ea typeface="Be Vietnam"/>
                <a:cs typeface="Be Vietnam"/>
                <a:sym typeface="Be Vietnam"/>
              </a:rPr>
              <a:t> đã đăng kí học trong </a:t>
            </a:r>
            <a:r>
              <a:rPr lang="en-US" sz="2970">
                <a:solidFill>
                  <a:srgbClr val="1B1C54"/>
                </a:solidFill>
                <a:latin typeface="Be Vietnam"/>
                <a:ea typeface="Be Vietnam"/>
                <a:cs typeface="Be Vietnam"/>
                <a:sym typeface="Be Vietnam"/>
              </a:rPr>
              <a:t>H</a:t>
            </a:r>
            <a:r>
              <a:rPr lang="en-US" sz="2970">
                <a:solidFill>
                  <a:srgbClr val="1B1C54"/>
                </a:solidFill>
                <a:latin typeface="Be Vietnam"/>
                <a:ea typeface="Be Vietnam"/>
                <a:cs typeface="Be Vietnam"/>
                <a:sym typeface="Be Vietnam"/>
              </a:rPr>
              <a:t>K,</a:t>
            </a:r>
            <a:r>
              <a:rPr lang="en-US" sz="2970">
                <a:solidFill>
                  <a:srgbClr val="1B1C54"/>
                </a:solidFill>
                <a:latin typeface="Be Vietnam"/>
                <a:ea typeface="Be Vietnam"/>
                <a:cs typeface="Be Vietnam"/>
                <a:sym typeface="Be Vietnam"/>
              </a:rPr>
              <a:t> hoặc tổng số tín chỉ nợ đọng từ đầu khóa học vượt quá 24 tín chỉ;</a:t>
            </a:r>
          </a:p>
          <a:p>
            <a:pPr algn="l">
              <a:lnSpc>
                <a:spcPts val="5347"/>
              </a:lnSpc>
            </a:pPr>
            <a:r>
              <a:rPr lang="en-US" sz="2970">
                <a:solidFill>
                  <a:srgbClr val="1B1C54"/>
                </a:solidFill>
                <a:latin typeface="Be Vietnam"/>
                <a:ea typeface="Be Vietnam"/>
                <a:cs typeface="Be Vietnam"/>
                <a:sym typeface="Be Vietnam"/>
              </a:rPr>
              <a:t>2) Điểm trung bình HK đạt dưới 0,8 đối với HK đầu của khóa học, dưới 1,0 đối với các HK tiếp theo;</a:t>
            </a:r>
          </a:p>
          <a:p>
            <a:pPr algn="l">
              <a:lnSpc>
                <a:spcPts val="5347"/>
              </a:lnSpc>
            </a:pPr>
            <a:r>
              <a:rPr lang="en-US" sz="2970">
                <a:solidFill>
                  <a:srgbClr val="1B1C54"/>
                </a:solidFill>
                <a:latin typeface="Be Vietnam"/>
                <a:ea typeface="Be Vietnam"/>
                <a:cs typeface="Be Vietnam"/>
                <a:sym typeface="Be Vietnam"/>
              </a:rPr>
              <a:t>3) Điểm trung bình</a:t>
            </a:r>
            <a:r>
              <a:rPr lang="en-US" sz="2970">
                <a:solidFill>
                  <a:srgbClr val="1B1C54"/>
                </a:solidFill>
                <a:latin typeface="Be Vietnam"/>
                <a:ea typeface="Be Vietnam"/>
                <a:cs typeface="Be Vietnam"/>
                <a:sym typeface="Be Vietnam"/>
              </a:rPr>
              <a:t> tíc</a:t>
            </a:r>
            <a:r>
              <a:rPr lang="en-US" sz="2970">
                <a:solidFill>
                  <a:srgbClr val="1B1C54"/>
                </a:solidFill>
                <a:latin typeface="Be Vietnam"/>
                <a:ea typeface="Be Vietnam"/>
                <a:cs typeface="Be Vietnam"/>
                <a:sym typeface="Be Vietnam"/>
              </a:rPr>
              <a:t>h lũy đạt dưới 1,2 đối với SV trình độ năm thứ nhất, dưới 1,4 đối với SV trình độ năm thứ hai, dưới 1,6 đối với SV trình độ năm thứ ba dưới 1,8 đối với SV các năm tiếp theo;</a:t>
            </a:r>
          </a:p>
          <a:p>
            <a:pPr algn="l">
              <a:lnSpc>
                <a:spcPts val="5347"/>
              </a:lnSpc>
            </a:pPr>
            <a:r>
              <a:rPr lang="en-US" sz="2970">
                <a:solidFill>
                  <a:srgbClr val="1B1C54"/>
                </a:solidFill>
                <a:latin typeface="Be Vietnam"/>
                <a:ea typeface="Be Vietnam"/>
                <a:cs typeface="Be Vietnam"/>
                <a:sym typeface="Be Vietnam"/>
              </a:rPr>
              <a:t>4) SV không đăng ký học trong học kỳ chính mà không được sự cho phép của Hiệu trưởng.</a:t>
            </a:r>
          </a:p>
          <a:p>
            <a:pPr algn="l">
              <a:lnSpc>
                <a:spcPts val="5347"/>
              </a:lnSpc>
            </a:pPr>
          </a:p>
        </p:txBody>
      </p:sp>
      <p:sp>
        <p:nvSpPr>
          <p:cNvPr name="TextBox 6" id="6"/>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7" id="7"/>
          <p:cNvSpPr txBox="true"/>
          <p:nvPr/>
        </p:nvSpPr>
        <p:spPr>
          <a:xfrm rot="0">
            <a:off x="4937710" y="1765691"/>
            <a:ext cx="8103013"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11. ĐIỀU KIỆN CẢNH BÁO HỌC VỤ</a:t>
            </a:r>
          </a:p>
        </p:txBody>
      </p:sp>
      <p:sp>
        <p:nvSpPr>
          <p:cNvPr name="TextBox 8" id="8"/>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14/18</a:t>
            </a:r>
          </a:p>
        </p:txBody>
      </p:sp>
    </p:spTree>
  </p:cSld>
  <p:clrMapOvr>
    <a:masterClrMapping/>
  </p:clrMapOvr>
  <p:transition spd="fast">
    <p:push dir="l"/>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AutoShape 4" id="4"/>
          <p:cNvSpPr/>
          <p:nvPr/>
        </p:nvSpPr>
        <p:spPr>
          <a:xfrm>
            <a:off x="6546629" y="2559948"/>
            <a:ext cx="4912640"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6" id="6"/>
          <p:cNvSpPr txBox="true"/>
          <p:nvPr/>
        </p:nvSpPr>
        <p:spPr>
          <a:xfrm rot="0">
            <a:off x="5017608" y="1775554"/>
            <a:ext cx="7790818"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12. ĐIỀU KIỆN BUỘC THÔI HỌC</a:t>
            </a:r>
          </a:p>
        </p:txBody>
      </p:sp>
      <p:sp>
        <p:nvSpPr>
          <p:cNvPr name="TextBox 7" id="7"/>
          <p:cNvSpPr txBox="true"/>
          <p:nvPr/>
        </p:nvSpPr>
        <p:spPr>
          <a:xfrm rot="0">
            <a:off x="1837309" y="3185141"/>
            <a:ext cx="14904664" cy="3978211"/>
          </a:xfrm>
          <a:prstGeom prst="rect">
            <a:avLst/>
          </a:prstGeom>
        </p:spPr>
        <p:txBody>
          <a:bodyPr anchor="t" rtlCol="false" tIns="0" lIns="0" bIns="0" rIns="0">
            <a:spAutoFit/>
          </a:bodyPr>
          <a:lstStyle/>
          <a:p>
            <a:pPr algn="l">
              <a:lnSpc>
                <a:spcPts val="8018"/>
              </a:lnSpc>
            </a:pPr>
            <a:r>
              <a:rPr lang="en-US" sz="4454">
                <a:solidFill>
                  <a:srgbClr val="1B1C54"/>
                </a:solidFill>
                <a:latin typeface="Be Vietnam"/>
                <a:ea typeface="Be Vietnam"/>
                <a:cs typeface="Be Vietnam"/>
                <a:sym typeface="Be Vietnam"/>
              </a:rPr>
              <a:t>Số lần cảnh báo học tập vượt quá 2 lần cảnh báo liên</a:t>
            </a:r>
            <a:r>
              <a:rPr lang="en-US" sz="4454">
                <a:solidFill>
                  <a:srgbClr val="1B1C54"/>
                </a:solidFill>
                <a:latin typeface="Be Vietnam"/>
                <a:ea typeface="Be Vietnam"/>
                <a:cs typeface="Be Vietnam"/>
                <a:sym typeface="Be Vietnam"/>
              </a:rPr>
              <a:t> tiếp</a:t>
            </a:r>
            <a:r>
              <a:rPr lang="en-US" sz="4454">
                <a:solidFill>
                  <a:srgbClr val="1B1C54"/>
                </a:solidFill>
                <a:latin typeface="Be Vietnam"/>
                <a:ea typeface="Be Vietnam"/>
                <a:cs typeface="Be Vietnam"/>
                <a:sym typeface="Be Vietnam"/>
              </a:rPr>
              <a:t> hoặc đã</a:t>
            </a:r>
            <a:r>
              <a:rPr lang="en-US" sz="4454">
                <a:solidFill>
                  <a:srgbClr val="1B1C54"/>
                </a:solidFill>
                <a:latin typeface="Be Vietnam"/>
                <a:ea typeface="Be Vietnam"/>
                <a:cs typeface="Be Vietnam"/>
                <a:sym typeface="Be Vietnam"/>
              </a:rPr>
              <a:t> bị cảnh báo học tập và HK chính kế</a:t>
            </a:r>
            <a:r>
              <a:rPr lang="en-US" sz="4454">
                <a:solidFill>
                  <a:srgbClr val="1B1C54"/>
                </a:solidFill>
                <a:latin typeface="Be Vietnam"/>
                <a:ea typeface="Be Vietnam"/>
                <a:cs typeface="Be Vietnam"/>
                <a:sym typeface="Be Vietnam"/>
              </a:rPr>
              <a:t> t</a:t>
            </a:r>
            <a:r>
              <a:rPr lang="en-US" sz="4454">
                <a:solidFill>
                  <a:srgbClr val="1B1C54"/>
                </a:solidFill>
                <a:latin typeface="Be Vietnam"/>
                <a:ea typeface="Be Vietnam"/>
                <a:cs typeface="Be Vietnam"/>
                <a:sym typeface="Be Vietnam"/>
              </a:rPr>
              <a:t>iếp</a:t>
            </a:r>
            <a:r>
              <a:rPr lang="en-US" sz="4454">
                <a:solidFill>
                  <a:srgbClr val="1B1C54"/>
                </a:solidFill>
                <a:latin typeface="Be Vietnam"/>
                <a:ea typeface="Be Vietnam"/>
                <a:cs typeface="Be Vietnam"/>
                <a:sym typeface="Be Vietnam"/>
              </a:rPr>
              <a:t> </a:t>
            </a:r>
          </a:p>
          <a:p>
            <a:pPr algn="l">
              <a:lnSpc>
                <a:spcPts val="8018"/>
              </a:lnSpc>
            </a:pPr>
            <a:r>
              <a:rPr lang="en-US" sz="4454">
                <a:solidFill>
                  <a:srgbClr val="1B1C54"/>
                </a:solidFill>
                <a:latin typeface="Be Vietnam"/>
                <a:ea typeface="Be Vietnam"/>
                <a:cs typeface="Be Vietnam"/>
                <a:sym typeface="Be Vietnam"/>
              </a:rPr>
              <a:t>có ĐTBCHK dưới 1,00. Những trường hợp đặc biệt sẽ do Hiệu trưởng quyết định.</a:t>
            </a:r>
          </a:p>
        </p:txBody>
      </p:sp>
      <p:sp>
        <p:nvSpPr>
          <p:cNvPr name="TextBox 8" id="8"/>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15/18</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AutoShape 4" id="4"/>
          <p:cNvSpPr/>
          <p:nvPr/>
        </p:nvSpPr>
        <p:spPr>
          <a:xfrm>
            <a:off x="6814761" y="2668980"/>
            <a:ext cx="4335604"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6" id="6"/>
          <p:cNvSpPr txBox="true"/>
          <p:nvPr/>
        </p:nvSpPr>
        <p:spPr>
          <a:xfrm rot="0">
            <a:off x="3601699" y="1808554"/>
            <a:ext cx="10817902" cy="679451"/>
          </a:xfrm>
          <a:prstGeom prst="rect">
            <a:avLst/>
          </a:prstGeom>
        </p:spPr>
        <p:txBody>
          <a:bodyPr anchor="t" rtlCol="false" tIns="0" lIns="0" bIns="0" rIns="0">
            <a:spAutoFit/>
          </a:bodyPr>
          <a:lstStyle/>
          <a:p>
            <a:pPr algn="ctr">
              <a:lnSpc>
                <a:spcPts val="5599"/>
              </a:lnSpc>
            </a:pPr>
            <a:r>
              <a:rPr lang="en-US" sz="3999" b="true">
                <a:solidFill>
                  <a:srgbClr val="1B1C54"/>
                </a:solidFill>
                <a:latin typeface="Be Vietnam Ultra-Bold"/>
                <a:ea typeface="Be Vietnam Ultra-Bold"/>
                <a:cs typeface="Be Vietnam Ultra-Bold"/>
                <a:sym typeface="Be Vietnam Ultra-Bold"/>
              </a:rPr>
              <a:t>13. QUY TRÌNH TÍNH CẢNH BÁO SỚM HỌC VỤ</a:t>
            </a:r>
          </a:p>
        </p:txBody>
      </p:sp>
      <p:sp>
        <p:nvSpPr>
          <p:cNvPr name="TextBox 7" id="7"/>
          <p:cNvSpPr txBox="true"/>
          <p:nvPr/>
        </p:nvSpPr>
        <p:spPr>
          <a:xfrm rot="0">
            <a:off x="1359107" y="2719806"/>
            <a:ext cx="15900193" cy="7311046"/>
          </a:xfrm>
          <a:prstGeom prst="rect">
            <a:avLst/>
          </a:prstGeom>
        </p:spPr>
        <p:txBody>
          <a:bodyPr anchor="t" rtlCol="false" tIns="0" lIns="0" bIns="0" rIns="0">
            <a:spAutoFit/>
          </a:bodyPr>
          <a:lstStyle/>
          <a:p>
            <a:pPr algn="l">
              <a:lnSpc>
                <a:spcPts val="7298"/>
              </a:lnSpc>
            </a:pPr>
            <a:r>
              <a:rPr lang="en-US" sz="4054">
                <a:solidFill>
                  <a:srgbClr val="1B1C54"/>
                </a:solidFill>
                <a:latin typeface="Be Vietnam"/>
                <a:ea typeface="Be Vietnam"/>
                <a:cs typeface="Be Vietnam"/>
                <a:sym typeface="Be Vietnam"/>
              </a:rPr>
              <a:t>Phân tích theo 4 mức độ nguy cơ:</a:t>
            </a:r>
          </a:p>
          <a:p>
            <a:pPr algn="l" marL="875370" indent="-437685" lvl="1">
              <a:lnSpc>
                <a:spcPts val="7298"/>
              </a:lnSpc>
              <a:buFont typeface="Arial"/>
              <a:buChar char="•"/>
            </a:pPr>
            <a:r>
              <a:rPr lang="en-US" sz="4054">
                <a:solidFill>
                  <a:srgbClr val="1B1C54"/>
                </a:solidFill>
                <a:latin typeface="Be Vietnam"/>
                <a:ea typeface="Be Vietnam"/>
                <a:cs typeface="Be Vietnam"/>
                <a:sym typeface="Be Vietnam"/>
              </a:rPr>
              <a:t>Nguy cơ cao (Cảnh báo mức 2): ĐTBCTL &lt; 1.20 hoặc đã có cảnh báo học vụ chính thức từ 2 lần trở lên.</a:t>
            </a:r>
          </a:p>
          <a:p>
            <a:pPr algn="l" marL="875370" indent="-437685" lvl="1">
              <a:lnSpc>
                <a:spcPts val="7298"/>
              </a:lnSpc>
              <a:buFont typeface="Arial"/>
              <a:buChar char="•"/>
            </a:pPr>
            <a:r>
              <a:rPr lang="en-US" sz="4054">
                <a:solidFill>
                  <a:srgbClr val="1B1C54"/>
                </a:solidFill>
                <a:latin typeface="Be Vietnam"/>
                <a:ea typeface="Be Vietnam"/>
                <a:cs typeface="Be Vietnam"/>
                <a:sym typeface="Be Vietnam"/>
              </a:rPr>
              <a:t>Nguy cơ trung bình (Cảnh báo mức</a:t>
            </a:r>
            <a:r>
              <a:rPr lang="en-US" sz="4054">
                <a:solidFill>
                  <a:srgbClr val="1B1C54"/>
                </a:solidFill>
                <a:latin typeface="Be Vietnam"/>
                <a:ea typeface="Be Vietnam"/>
                <a:cs typeface="Be Vietnam"/>
                <a:sym typeface="Be Vietnam"/>
              </a:rPr>
              <a:t> 1): ĐTBCTL &lt; 1.80</a:t>
            </a:r>
            <a:r>
              <a:rPr lang="en-US" sz="4054">
                <a:solidFill>
                  <a:srgbClr val="1B1C54"/>
                </a:solidFill>
                <a:latin typeface="Be Vietnam"/>
                <a:ea typeface="Be Vietnam"/>
                <a:cs typeface="Be Vietnam"/>
                <a:sym typeface="Be Vietnam"/>
              </a:rPr>
              <a:t> hoặc có 1 lần bị cảnh báo học vụ chính thức.</a:t>
            </a:r>
          </a:p>
          <a:p>
            <a:pPr algn="l" marL="875370" indent="-437685" lvl="1">
              <a:lnSpc>
                <a:spcPts val="7298"/>
              </a:lnSpc>
              <a:buFont typeface="Arial"/>
              <a:buChar char="•"/>
            </a:pPr>
            <a:r>
              <a:rPr lang="en-US" sz="4054">
                <a:solidFill>
                  <a:srgbClr val="1B1C54"/>
                </a:solidFill>
                <a:latin typeface="Be Vietnam"/>
                <a:ea typeface="Be Vietnam"/>
                <a:cs typeface="Be Vietnam"/>
                <a:sym typeface="Be Vietnam"/>
              </a:rPr>
              <a:t>Cần</a:t>
            </a:r>
            <a:r>
              <a:rPr lang="en-US" sz="4054">
                <a:solidFill>
                  <a:srgbClr val="1B1C54"/>
                </a:solidFill>
                <a:latin typeface="Be Vietnam"/>
                <a:ea typeface="Be Vietnam"/>
                <a:cs typeface="Be Vietnam"/>
                <a:sym typeface="Be Vietnam"/>
              </a:rPr>
              <a:t> theo dõ</a:t>
            </a:r>
            <a:r>
              <a:rPr lang="en-US" sz="4054">
                <a:solidFill>
                  <a:srgbClr val="1B1C54"/>
                </a:solidFill>
                <a:latin typeface="Be Vietnam"/>
                <a:ea typeface="Be Vietnam"/>
                <a:cs typeface="Be Vietnam"/>
                <a:sym typeface="Be Vietnam"/>
              </a:rPr>
              <a:t>i: 1.80 &lt;= ĐTBCTL &lt; 2.00.</a:t>
            </a:r>
          </a:p>
          <a:p>
            <a:pPr algn="l" marL="875370" indent="-437685" lvl="1">
              <a:lnSpc>
                <a:spcPts val="7298"/>
              </a:lnSpc>
              <a:buFont typeface="Arial"/>
              <a:buChar char="•"/>
            </a:pPr>
            <a:r>
              <a:rPr lang="en-US" sz="4054">
                <a:solidFill>
                  <a:srgbClr val="1B1C54"/>
                </a:solidFill>
                <a:latin typeface="Be Vietnam"/>
                <a:ea typeface="Be Vietnam"/>
                <a:cs typeface="Be Vietnam"/>
                <a:sym typeface="Be Vietnam"/>
              </a:rPr>
              <a:t>An toàn: ĐTBCTL &gt;= 2.00 và không bị cảnh báo học vụ.</a:t>
            </a:r>
          </a:p>
          <a:p>
            <a:pPr algn="l">
              <a:lnSpc>
                <a:spcPts val="7298"/>
              </a:lnSpc>
            </a:pPr>
          </a:p>
        </p:txBody>
      </p:sp>
      <p:sp>
        <p:nvSpPr>
          <p:cNvPr name="TextBox 8" id="8"/>
          <p:cNvSpPr txBox="true"/>
          <p:nvPr/>
        </p:nvSpPr>
        <p:spPr>
          <a:xfrm rot="0">
            <a:off x="16115407" y="9201150"/>
            <a:ext cx="152400" cy="209550"/>
          </a:xfrm>
          <a:prstGeom prst="rect">
            <a:avLst/>
          </a:prstGeom>
        </p:spPr>
        <p:txBody>
          <a:bodyPr anchor="t" rtlCol="false" tIns="0" lIns="0" bIns="0" rIns="0" wrap="none">
            <a:spAutoFit/>
          </a:bodyPr>
          <a:lstStyle/>
          <a:p>
            <a:pPr algn="ctr" marL="0" indent="0" lvl="0">
              <a:lnSpc>
                <a:spcPts val="3639"/>
              </a:lnSpc>
              <a:spcBef>
                <a:spcPct val="0"/>
              </a:spcBef>
            </a:pPr>
            <a:r>
              <a:rPr lang="en-US" sz="2599" strike="noStrike" u="none">
                <a:solidFill>
                  <a:srgbClr val="1B1C54"/>
                </a:solidFill>
                <a:latin typeface="Noto Sans"/>
                <a:ea typeface="Noto Sans"/>
                <a:cs typeface="Noto Sans"/>
                <a:sym typeface="Noto Sans"/>
              </a:rPr>
              <a:t>Trang 16/18</a:t>
            </a:r>
          </a:p>
        </p:txBody>
      </p:sp>
    </p:spTree>
  </p:cSld>
  <p:clrMapOvr>
    <a:masterClrMapping/>
  </p:clrMapOvr>
  <p:transition spd="fast">
    <p:push dir="l"/>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AutoShape 4" id="4"/>
          <p:cNvSpPr/>
          <p:nvPr/>
        </p:nvSpPr>
        <p:spPr>
          <a:xfrm>
            <a:off x="6532897" y="6880232"/>
            <a:ext cx="4912640" cy="0"/>
          </a:xfrm>
          <a:prstGeom prst="line">
            <a:avLst/>
          </a:prstGeom>
          <a:ln cap="flat" w="38100">
            <a:solidFill>
              <a:srgbClr val="000000"/>
            </a:solidFill>
            <a:prstDash val="solid"/>
            <a:headEnd type="none" len="sm" w="sm"/>
            <a:tailEnd type="none" len="sm" w="sm"/>
          </a:ln>
        </p:spPr>
      </p:sp>
      <p:sp>
        <p:nvSpPr>
          <p:cNvPr name="TextBox 5" id="5"/>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TextBox 6" id="6"/>
          <p:cNvSpPr txBox="true"/>
          <p:nvPr/>
        </p:nvSpPr>
        <p:spPr>
          <a:xfrm rot="0">
            <a:off x="2158641" y="3406768"/>
            <a:ext cx="13856419" cy="3302015"/>
          </a:xfrm>
          <a:prstGeom prst="rect">
            <a:avLst/>
          </a:prstGeom>
        </p:spPr>
        <p:txBody>
          <a:bodyPr anchor="t" rtlCol="false" tIns="0" lIns="0" bIns="0" rIns="0">
            <a:spAutoFit/>
          </a:bodyPr>
          <a:lstStyle/>
          <a:p>
            <a:pPr algn="ctr">
              <a:lnSpc>
                <a:spcPts val="13299"/>
              </a:lnSpc>
            </a:pPr>
            <a:r>
              <a:rPr lang="en-US" sz="9499" b="true">
                <a:solidFill>
                  <a:srgbClr val="1B1C54"/>
                </a:solidFill>
                <a:latin typeface="Be Vietnam Ultra-Bold"/>
                <a:ea typeface="Be Vietnam Ultra-Bold"/>
                <a:cs typeface="Be Vietnam Ultra-Bold"/>
                <a:sym typeface="Be Vietnam Ultra-Bold"/>
              </a:rPr>
              <a:t>KÍNH MỜI QUÝ THẦY CÔ XEM PHẦN DEMO</a:t>
            </a:r>
          </a:p>
        </p:txBody>
      </p:sp>
      <p:sp>
        <p:nvSpPr>
          <p:cNvPr name="TextBox 7" id="7"/>
          <p:cNvSpPr txBox="true"/>
          <p:nvPr/>
        </p:nvSpPr>
        <p:spPr>
          <a:xfrm rot="0">
            <a:off x="16115407"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1B1C54"/>
                </a:solidFill>
                <a:latin typeface="Noto Sans"/>
                <a:ea typeface="Noto Sans"/>
                <a:cs typeface="Noto Sans"/>
                <a:sym typeface="Noto Sans"/>
              </a:rPr>
              <a:t>Trang 17/18</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58196" y="-2854961"/>
            <a:ext cx="21294825" cy="4630178"/>
          </a:xfrm>
          <a:custGeom>
            <a:avLst/>
            <a:gdLst/>
            <a:ahLst/>
            <a:cxnLst/>
            <a:rect r="r" b="b" t="t" l="l"/>
            <a:pathLst>
              <a:path h="4630178" w="21294825">
                <a:moveTo>
                  <a:pt x="0" y="0"/>
                </a:moveTo>
                <a:lnTo>
                  <a:pt x="21294826" y="0"/>
                </a:lnTo>
                <a:lnTo>
                  <a:pt x="21294826" y="4630177"/>
                </a:lnTo>
                <a:lnTo>
                  <a:pt x="0" y="46301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034515" y="116826"/>
            <a:ext cx="1226324" cy="1226835"/>
          </a:xfrm>
          <a:custGeom>
            <a:avLst/>
            <a:gdLst/>
            <a:ahLst/>
            <a:cxnLst/>
            <a:rect r="r" b="b" t="t" l="l"/>
            <a:pathLst>
              <a:path h="1226835" w="1226324">
                <a:moveTo>
                  <a:pt x="0" y="0"/>
                </a:moveTo>
                <a:lnTo>
                  <a:pt x="1226325" y="0"/>
                </a:lnTo>
                <a:lnTo>
                  <a:pt x="1226325" y="1226835"/>
                </a:lnTo>
                <a:lnTo>
                  <a:pt x="0" y="1226835"/>
                </a:lnTo>
                <a:lnTo>
                  <a:pt x="0" y="0"/>
                </a:lnTo>
                <a:close/>
              </a:path>
            </a:pathLst>
          </a:custGeom>
          <a:blipFill>
            <a:blip r:embed="rId4"/>
            <a:stretch>
              <a:fillRect l="0" t="0" r="0" b="0"/>
            </a:stretch>
          </a:blipFill>
        </p:spPr>
      </p:sp>
      <p:sp>
        <p:nvSpPr>
          <p:cNvPr name="TextBox 4" id="4"/>
          <p:cNvSpPr txBox="true"/>
          <p:nvPr/>
        </p:nvSpPr>
        <p:spPr>
          <a:xfrm rot="0">
            <a:off x="4862054" y="116198"/>
            <a:ext cx="8563892" cy="1170941"/>
          </a:xfrm>
          <a:prstGeom prst="rect">
            <a:avLst/>
          </a:prstGeom>
        </p:spPr>
        <p:txBody>
          <a:bodyPr anchor="t" rtlCol="false" tIns="0" lIns="0" bIns="0" rIns="0">
            <a:spAutoFit/>
          </a:bodyPr>
          <a:lstStyle/>
          <a:p>
            <a:pPr algn="ctr">
              <a:lnSpc>
                <a:spcPts val="4759"/>
              </a:lnSpc>
            </a:pPr>
            <a:r>
              <a:rPr lang="en-US" sz="3399" b="true">
                <a:solidFill>
                  <a:srgbClr val="1B1C54"/>
                </a:solidFill>
                <a:latin typeface="Be Vietnam Ultra-Bold"/>
                <a:ea typeface="Be Vietnam Ultra-Bold"/>
                <a:cs typeface="Be Vietnam Ultra-Bold"/>
                <a:sym typeface="Be Vietnam Ultra-Bold"/>
              </a:rPr>
              <a:t>BÁO CÁO ĐỒ ÁN TỐT NGHIỆP</a:t>
            </a:r>
          </a:p>
          <a:p>
            <a:pPr algn="ctr">
              <a:lnSpc>
                <a:spcPts val="4759"/>
              </a:lnSpc>
            </a:pPr>
            <a:r>
              <a:rPr lang="en-US" sz="3399">
                <a:solidFill>
                  <a:srgbClr val="1B1C54"/>
                </a:solidFill>
                <a:latin typeface="Be Vietnam"/>
                <a:ea typeface="Be Vietnam"/>
                <a:cs typeface="Be Vietnam"/>
                <a:sym typeface="Be Vietnam"/>
              </a:rPr>
              <a:t>NGÀNH CÔNG NGHỆ THÔNG TIN</a:t>
            </a:r>
          </a:p>
        </p:txBody>
      </p:sp>
      <p:sp>
        <p:nvSpPr>
          <p:cNvPr name="AutoShape 5" id="5"/>
          <p:cNvSpPr/>
          <p:nvPr/>
        </p:nvSpPr>
        <p:spPr>
          <a:xfrm>
            <a:off x="6532897" y="6880232"/>
            <a:ext cx="4912640" cy="0"/>
          </a:xfrm>
          <a:prstGeom prst="line">
            <a:avLst/>
          </a:prstGeom>
          <a:ln cap="flat" w="38100">
            <a:solidFill>
              <a:srgbClr val="000000"/>
            </a:solidFill>
            <a:prstDash val="solid"/>
            <a:headEnd type="none" len="sm" w="sm"/>
            <a:tailEnd type="none" len="sm" w="sm"/>
          </a:ln>
        </p:spPr>
      </p:sp>
      <p:sp>
        <p:nvSpPr>
          <p:cNvPr name="TextBox 6" id="6"/>
          <p:cNvSpPr txBox="true"/>
          <p:nvPr/>
        </p:nvSpPr>
        <p:spPr>
          <a:xfrm rot="0">
            <a:off x="1935343" y="3406768"/>
            <a:ext cx="14417314" cy="3302015"/>
          </a:xfrm>
          <a:prstGeom prst="rect">
            <a:avLst/>
          </a:prstGeom>
        </p:spPr>
        <p:txBody>
          <a:bodyPr anchor="t" rtlCol="false" tIns="0" lIns="0" bIns="0" rIns="0">
            <a:spAutoFit/>
          </a:bodyPr>
          <a:lstStyle/>
          <a:p>
            <a:pPr algn="ctr">
              <a:lnSpc>
                <a:spcPts val="13299"/>
              </a:lnSpc>
            </a:pPr>
            <a:r>
              <a:rPr lang="en-US" sz="9499" b="true">
                <a:solidFill>
                  <a:srgbClr val="1B1C54"/>
                </a:solidFill>
                <a:latin typeface="Be Vietnam Ultra-Bold"/>
                <a:ea typeface="Be Vietnam Ultra-Bold"/>
                <a:cs typeface="Be Vietnam Ultra-Bold"/>
                <a:sym typeface="Be Vietnam Ultra-Bold"/>
              </a:rPr>
              <a:t>CHÂN THÀNH CẢM ƠN THẦY CÔ ĐÃ LẮNG NGHE!</a:t>
            </a:r>
          </a:p>
        </p:txBody>
      </p:sp>
      <p:sp>
        <p:nvSpPr>
          <p:cNvPr name="TextBox 7" id="7"/>
          <p:cNvSpPr txBox="true"/>
          <p:nvPr/>
        </p:nvSpPr>
        <p:spPr>
          <a:xfrm rot="0">
            <a:off x="16115407"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1B1C54"/>
                </a:solidFill>
                <a:latin typeface="Noto Sans"/>
                <a:ea typeface="Noto Sans"/>
                <a:cs typeface="Noto Sans"/>
                <a:sym typeface="Noto Sans"/>
              </a:rPr>
              <a:t>Trang 18/18</a:t>
            </a:r>
          </a:p>
        </p:txBody>
      </p:sp>
    </p:spTree>
  </p:cSld>
  <p:clrMapOvr>
    <a:masterClrMapping/>
  </p:clrMapOvr>
  <p:transition spd="fast">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DAHOTq7tAyA</dc:identifier>
  <dcterms:modified xsi:type="dcterms:W3CDTF">2011-08-01T06:04:30Z</dcterms:modified>
  <cp:revision>1</cp:revision>
  <dc:title>TRƯỜNG KỸ THUẬT VÀ CÔNG NGHỆ KHOA CÔNG NGHỆ THÔNG TIN</dc:title>
</cp:coreProperties>
</file>